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48" r:id="rId1"/>
  </p:sldMasterIdLst>
  <p:notesMasterIdLst>
    <p:notesMasterId r:id="rId9"/>
  </p:notesMasterIdLst>
  <p:sldIdLst>
    <p:sldId id="283" r:id="rId2"/>
    <p:sldId id="1002" r:id="rId3"/>
    <p:sldId id="1003" r:id="rId4"/>
    <p:sldId id="1004" r:id="rId5"/>
    <p:sldId id="1008" r:id="rId6"/>
    <p:sldId id="1006" r:id="rId7"/>
    <p:sldId id="1007" r:id="rId8"/>
  </p:sldIdLst>
  <p:sldSz cx="12192000" cy="6858000"/>
  <p:notesSz cx="7104063" cy="10234613"/>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007BA99-D693-2BD6-E5CE-EC1D8B98F12B}" name="MAEDA Yuuki" initials="MY" userId="LH0O2BYGFWwxLJCswbkcfIbi9WSUK5oFTub0UyEOBYc="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4472C4"/>
    <a:srgbClr val="8E0000"/>
    <a:srgbClr val="FFCDCD"/>
    <a:srgbClr val="003CFF"/>
    <a:srgbClr val="FEBEBE"/>
    <a:srgbClr val="FE7272"/>
    <a:srgbClr val="6965FF"/>
    <a:srgbClr val="E0E5F7"/>
    <a:srgbClr val="270AF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628" autoAdjust="0"/>
    <p:restoredTop sz="85766" autoAdjust="0"/>
  </p:normalViewPr>
  <p:slideViewPr>
    <p:cSldViewPr snapToGrid="0">
      <p:cViewPr varScale="1">
        <p:scale>
          <a:sx n="63" d="100"/>
          <a:sy n="63" d="100"/>
        </p:scale>
        <p:origin x="892" y="60"/>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3078427" cy="513508"/>
          </a:xfrm>
          <a:prstGeom prst="rect">
            <a:avLst/>
          </a:prstGeom>
        </p:spPr>
        <p:txBody>
          <a:bodyPr vert="horz" lIns="99075" tIns="49538" rIns="99075" bIns="49538" rtlCol="0"/>
          <a:lstStyle>
            <a:lvl1pPr algn="l">
              <a:defRPr sz="1300"/>
            </a:lvl1pPr>
          </a:lstStyle>
          <a:p>
            <a:endParaRPr kumimoji="1" lang="ja-JP" altLang="en-US"/>
          </a:p>
        </p:txBody>
      </p:sp>
      <p:sp>
        <p:nvSpPr>
          <p:cNvPr id="3" name="日付プレースホルダー 2"/>
          <p:cNvSpPr>
            <a:spLocks noGrp="1"/>
          </p:cNvSpPr>
          <p:nvPr>
            <p:ph type="dt" idx="1"/>
          </p:nvPr>
        </p:nvSpPr>
        <p:spPr>
          <a:xfrm>
            <a:off x="4023992" y="0"/>
            <a:ext cx="3078427" cy="513508"/>
          </a:xfrm>
          <a:prstGeom prst="rect">
            <a:avLst/>
          </a:prstGeom>
        </p:spPr>
        <p:txBody>
          <a:bodyPr vert="horz" lIns="99075" tIns="49538" rIns="99075" bIns="49538" rtlCol="0"/>
          <a:lstStyle>
            <a:lvl1pPr algn="r">
              <a:defRPr sz="1300"/>
            </a:lvl1pPr>
          </a:lstStyle>
          <a:p>
            <a:fld id="{AB83EA4B-B552-4348-9F79-9CC79FF47F8F}" type="datetimeFigureOut">
              <a:rPr kumimoji="1" lang="ja-JP" altLang="en-US" smtClean="0"/>
              <a:t>2026/10/13</a:t>
            </a:fld>
            <a:endParaRPr kumimoji="1" lang="ja-JP" altLang="en-US"/>
          </a:p>
        </p:txBody>
      </p:sp>
      <p:sp>
        <p:nvSpPr>
          <p:cNvPr id="4" name="スライド イメージ プレースホルダー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9075" tIns="49538" rIns="99075" bIns="49538" rtlCol="0" anchor="ctr"/>
          <a:lstStyle/>
          <a:p>
            <a:endParaRPr lang="ja-JP" altLang="en-US"/>
          </a:p>
        </p:txBody>
      </p:sp>
      <p:sp>
        <p:nvSpPr>
          <p:cNvPr id="5" name="ノート プレースホルダー 4"/>
          <p:cNvSpPr>
            <a:spLocks noGrp="1"/>
          </p:cNvSpPr>
          <p:nvPr>
            <p:ph type="body" sz="quarter" idx="3"/>
          </p:nvPr>
        </p:nvSpPr>
        <p:spPr>
          <a:xfrm>
            <a:off x="710407" y="4925407"/>
            <a:ext cx="5683250" cy="4029879"/>
          </a:xfrm>
          <a:prstGeom prst="rect">
            <a:avLst/>
          </a:prstGeom>
        </p:spPr>
        <p:txBody>
          <a:bodyPr vert="horz" lIns="99075" tIns="49538" rIns="99075" bIns="49538"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721107"/>
            <a:ext cx="3078427" cy="513507"/>
          </a:xfrm>
          <a:prstGeom prst="rect">
            <a:avLst/>
          </a:prstGeom>
        </p:spPr>
        <p:txBody>
          <a:bodyPr vert="horz" lIns="99075" tIns="49538" rIns="99075" bIns="49538" rtlCol="0" anchor="b"/>
          <a:lstStyle>
            <a:lvl1pPr algn="l">
              <a:defRPr sz="1300"/>
            </a:lvl1pPr>
          </a:lstStyle>
          <a:p>
            <a:endParaRPr kumimoji="1" lang="ja-JP" altLang="en-US"/>
          </a:p>
        </p:txBody>
      </p:sp>
      <p:sp>
        <p:nvSpPr>
          <p:cNvPr id="7" name="スライド番号プレースホルダー 6"/>
          <p:cNvSpPr>
            <a:spLocks noGrp="1"/>
          </p:cNvSpPr>
          <p:nvPr>
            <p:ph type="sldNum" sz="quarter" idx="5"/>
          </p:nvPr>
        </p:nvSpPr>
        <p:spPr>
          <a:xfrm>
            <a:off x="4023992" y="9721107"/>
            <a:ext cx="3078427" cy="513507"/>
          </a:xfrm>
          <a:prstGeom prst="rect">
            <a:avLst/>
          </a:prstGeom>
        </p:spPr>
        <p:txBody>
          <a:bodyPr vert="horz" lIns="99075" tIns="49538" rIns="99075" bIns="49538" rtlCol="0" anchor="b"/>
          <a:lstStyle>
            <a:lvl1pPr algn="r">
              <a:defRPr sz="1300"/>
            </a:lvl1pPr>
          </a:lstStyle>
          <a:p>
            <a:fld id="{2DFD6A99-F84B-429E-8B93-D93C354EB505}" type="slidenum">
              <a:rPr kumimoji="1" lang="ja-JP" altLang="en-US" smtClean="0"/>
              <a:t>‹#›</a:t>
            </a:fld>
            <a:endParaRPr kumimoji="1" lang="ja-JP" altLang="en-US"/>
          </a:p>
        </p:txBody>
      </p:sp>
    </p:spTree>
    <p:extLst>
      <p:ext uri="{BB962C8B-B14F-4D97-AF65-F5344CB8AC3E}">
        <p14:creationId xmlns:p14="http://schemas.microsoft.com/office/powerpoint/2010/main" val="818344869"/>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defRPr/>
            </a:pPr>
            <a:r>
              <a:rPr lang="ja-JP" altLang="ja-JP" sz="2400">
                <a:ea typeface="游ゴシック"/>
              </a:rPr>
              <a:t>今週は、これまで測るだけだったズレを、合計点から減点するようにしました。ズレが大きい音だけを対象に、多くても5点減点します。なお、ズレがなくそろっていても正しい単語を言えた証拠にはならないため、加点はしません。</a:t>
            </a:r>
            <a:endParaRPr kumimoji="1" lang="ja-JP" altLang="en-US" sz="2400">
              <a:ea typeface="游ゴシック"/>
            </a:endParaRPr>
          </a:p>
        </p:txBody>
      </p:sp>
      <p:sp>
        <p:nvSpPr>
          <p:cNvPr id="4" name="スライド番号プレースホルダー 3"/>
          <p:cNvSpPr>
            <a:spLocks noGrp="1"/>
          </p:cNvSpPr>
          <p:nvPr>
            <p:ph type="sldNum" sz="quarter" idx="10"/>
          </p:nvPr>
        </p:nvSpPr>
        <p:spPr/>
        <p:txBody>
          <a:bodyPr/>
          <a:lstStyle/>
          <a:p>
            <a:fld id="{7A9E1E52-1B0C-4B1E-9D0F-2C3A4B5C6D7E}" type="slidenum">
              <a:rPr kumimoji="1" lang="ja-JP" altLang="en-US" smtClean="0"/>
              <a:t>1</a:t>
            </a:fld>
            <a:endParaRPr kumimoji="1" lang="ja-JP"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defRPr/>
            </a:pPr>
            <a:r>
              <a:rPr lang="ja-JP" altLang="ja-JP" sz="2400">
                <a:ea typeface="游ゴシック"/>
              </a:rPr>
              <a:t>減点の基準ですが、人が気づく範囲を超えた音だけ、超えた分を減点します。具体的には、口より声が早い場合は40ミリ秒の間、声より口が早い場合は200ミリ秒の間は減点しません。この範囲を超えるとずれるほど大きく減点し、400ミリ秒で最大の減点となります。</a:t>
            </a:r>
            <a:endParaRPr kumimoji="1" lang="ja-JP" altLang="en-US" sz="2400">
              <a:ea typeface="游ゴシック"/>
            </a:endParaRPr>
          </a:p>
        </p:txBody>
      </p:sp>
      <p:sp>
        <p:nvSpPr>
          <p:cNvPr id="4" name="スライド番号プレースホルダー 3"/>
          <p:cNvSpPr>
            <a:spLocks noGrp="1"/>
          </p:cNvSpPr>
          <p:nvPr>
            <p:ph type="sldNum" sz="quarter" idx="10"/>
          </p:nvPr>
        </p:nvSpPr>
        <p:spPr/>
        <p:txBody>
          <a:bodyPr/>
          <a:lstStyle/>
          <a:p>
            <a:fld id="{7A9E1E52-1B0C-4B1E-9D0F-2C3A4B5C6D7E}" type="slidenum">
              <a:rPr kumimoji="1" lang="ja-JP" altLang="en-US" smtClean="0"/>
              <a:t>2</a:t>
            </a:fld>
            <a:endParaRPr kumimoji="1" lang="ja-JP"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defRPr/>
            </a:pPr>
            <a:r>
              <a:rPr lang="ja-JP" altLang="ja-JP" sz="2400">
                <a:ea typeface="游ゴシック"/>
              </a:rPr>
              <a:t>3つのしきい値は文献の値に基づいています。声が先40ミリ秒は人がずれに気づきはじめる点、口が先200ミリ秒は聞き取りが下がりはじめる点です。400ミリ秒は、口が見えることの利点がほぼ全部なくなる点です。上限を5点としたことだけは、厳しくしすぎないための私たちの判断です。</a:t>
            </a:r>
            <a:endParaRPr kumimoji="1" lang="ja-JP" altLang="en-US" sz="2400">
              <a:ea typeface="游ゴシック"/>
            </a:endParaRPr>
          </a:p>
        </p:txBody>
      </p:sp>
      <p:sp>
        <p:nvSpPr>
          <p:cNvPr id="4" name="スライド番号プレースホルダー 3"/>
          <p:cNvSpPr>
            <a:spLocks noGrp="1"/>
          </p:cNvSpPr>
          <p:nvPr>
            <p:ph type="sldNum" sz="quarter" idx="10"/>
          </p:nvPr>
        </p:nvSpPr>
        <p:spPr/>
        <p:txBody>
          <a:bodyPr/>
          <a:lstStyle/>
          <a:p>
            <a:fld id="{7A9E1E52-1B0C-4B1E-9D0F-2C3A4B5C6D7E}" type="slidenum">
              <a:rPr kumimoji="1" lang="ja-JP" altLang="en-US" smtClean="0"/>
              <a:t>3</a:t>
            </a:fld>
            <a:endParaRPr kumimoji="1" lang="ja-JP"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defRPr/>
            </a:pPr>
            <a:r>
              <a:rPr kumimoji="1" lang="ja-JP" altLang="en-US" sz="2400" dirty="0"/>
              <a:t>来週以降は、ろう学校での調査に使う書類を作ります。</a:t>
            </a:r>
            <a:endParaRPr lang="ja-JP"/>
          </a:p>
          <a:p>
            <a:pPr>
              <a:defRPr/>
            </a:pPr>
            <a:r>
              <a:rPr kumimoji="1" lang="ja-JP" altLang="en-US" sz="2400">
                <a:ea typeface="游ゴシック"/>
              </a:rPr>
              <a:t>保護者と本人</a:t>
            </a:r>
            <a:r>
              <a:rPr lang="ja-JP" altLang="en-US" sz="2400">
                <a:ea typeface="游ゴシック"/>
              </a:rPr>
              <a:t>、</a:t>
            </a:r>
            <a:r>
              <a:rPr kumimoji="1" lang="ja-JP" altLang="en-US" sz="2400">
                <a:ea typeface="游ゴシック"/>
              </a:rPr>
              <a:t>それぞれの同意書。</a:t>
            </a:r>
            <a:endParaRPr lang="ja-JP" altLang="en-US" sz="2400">
              <a:ea typeface="游ゴシック"/>
            </a:endParaRPr>
          </a:p>
          <a:p>
            <a:pPr>
              <a:defRPr/>
            </a:pPr>
            <a:r>
              <a:rPr kumimoji="1" lang="ja-JP" altLang="en-US" sz="2400" dirty="0"/>
              <a:t>アンケート用紙は、選択式15問と自由記述3問です。</a:t>
            </a:r>
          </a:p>
          <a:p>
            <a:pPr>
              <a:defRPr/>
            </a:pPr>
            <a:r>
              <a:rPr kumimoji="1" lang="ja-JP" altLang="en-US" sz="2400" dirty="0"/>
              <a:t>倫理審査が通ったら、すぐ始められるようにします。以上です。</a:t>
            </a:r>
          </a:p>
        </p:txBody>
      </p:sp>
      <p:sp>
        <p:nvSpPr>
          <p:cNvPr id="4" name="スライド番号プレースホルダー 3"/>
          <p:cNvSpPr>
            <a:spLocks noGrp="1"/>
          </p:cNvSpPr>
          <p:nvPr>
            <p:ph type="sldNum" sz="quarter" idx="10"/>
          </p:nvPr>
        </p:nvSpPr>
        <p:spPr/>
        <p:txBody>
          <a:bodyPr/>
          <a:lstStyle/>
          <a:p>
            <a:fld id="{7A9E1E52-1B0C-4B1E-9D0F-2C3A4B5C6D7E}" type="slidenum">
              <a:rPr kumimoji="1" lang="ja-JP" altLang="en-US" smtClean="0"/>
              <a:t>4</a:t>
            </a:fld>
            <a:endParaRPr kumimoji="1" lang="ja-JP"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defRPr/>
            </a:pPr>
            <a:r>
              <a:rPr kumimoji="1" lang="ja-JP" altLang="en-US" sz="2400" dirty="0"/>
              <a:t>①まず、その音のずれから、発話全体の中央値を引きます。全体が一律にずれているぶんは、録画を始めるタイミングの機材差なので、そこを外すためです。</a:t>
            </a:r>
            <a:endParaRPr lang="ja-JP"/>
          </a:p>
          <a:p>
            <a:pPr>
              <a:defRPr/>
            </a:pPr>
            <a:r>
              <a:rPr kumimoji="1" lang="ja-JP" altLang="en-US" sz="2400" dirty="0"/>
              <a:t>②次に、減点しない範囲を決めます。声が先なら45ミリ秒、口が先なら200ミリ秒に、動画のコマ1つぶんの誤差を足します。17fpsどうしなら、だいたい60ミリ秒です。</a:t>
            </a:r>
          </a:p>
          <a:p>
            <a:pPr>
              <a:defRPr/>
            </a:pPr>
            <a:r>
              <a:rPr kumimoji="1" lang="ja-JP" altLang="en-US" sz="2400" dirty="0"/>
              <a:t>③その範囲をはみ出した分を、0から1の数字にします。範囲の中なら0、400ミリ秒で1、あいだは直線でつなぎます。</a:t>
            </a:r>
          </a:p>
          <a:p>
            <a:pPr>
              <a:defRPr/>
            </a:pPr>
            <a:r>
              <a:rPr kumimoji="1" lang="ja-JP" altLang="en-US" sz="2400" dirty="0"/>
              <a:t>④最後に、音ごとのその数字を平均して、5点をかけます。0.1点きざみです。</a:t>
            </a:r>
          </a:p>
          <a:p>
            <a:pPr>
              <a:defRPr/>
            </a:pPr>
            <a:r>
              <a:rPr kumimoji="1" lang="ja-JP" altLang="en-US" sz="2400" dirty="0"/>
              <a:t>例の場合、範囲は45＋60で105ミリ秒。200ミリ秒ずれているので、はみ出しは（200−105）÷（400−45）で0.27。4音のうち1音だけなので、5×0.27÷4で0.3点です。</a:t>
            </a:r>
          </a:p>
          <a:p>
            <a:pPr>
              <a:defRPr/>
            </a:pPr>
            <a:r>
              <a:rPr kumimoji="1" lang="ja-JP" altLang="en-US" sz="2400" dirty="0"/>
              <a:t>（注意）中央値を引いているので、全部の音が同じだけずれている場合は減点できません。また、真ん中の音は必ず0になるので、5点は理論上の上限です。</a:t>
            </a:r>
          </a:p>
        </p:txBody>
      </p:sp>
      <p:sp>
        <p:nvSpPr>
          <p:cNvPr id="4" name="スライド番号プレースホルダー 3"/>
          <p:cNvSpPr>
            <a:spLocks noGrp="1"/>
          </p:cNvSpPr>
          <p:nvPr>
            <p:ph type="sldNum" sz="quarter" idx="10"/>
          </p:nvPr>
        </p:nvSpPr>
        <p:spPr/>
        <p:txBody>
          <a:bodyPr/>
          <a:lstStyle/>
          <a:p>
            <a:fld id="{7A9E1E52-1B0C-4B1E-9D0F-2C3A4B5C6D7E}" type="slidenum">
              <a:rPr kumimoji="1" lang="ja-JP" altLang="en-US" smtClean="0"/>
              <a:t>5</a:t>
            </a:fld>
            <a:endParaRPr kumimoji="1" lang="ja-JP"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defRPr/>
            </a:pPr>
            <a:r>
              <a:rPr kumimoji="1" lang="ja-JP" altLang="en-US" sz="2400" dirty="0"/>
              <a:t>★は本文・表の数値を原典で、☆は要旨で確かめたものです。</a:t>
            </a:r>
            <a:endParaRPr lang="ja-JP"/>
          </a:p>
          <a:p>
            <a:pPr>
              <a:defRPr/>
            </a:pPr>
            <a:r>
              <a:rPr kumimoji="1" lang="ja-JP" altLang="en-US" sz="2400" dirty="0"/>
              <a:t>上限5点に対応する文献はありません。点数への換算を示した研究が見つからなかったためです。</a:t>
            </a:r>
          </a:p>
          <a:p>
            <a:pPr>
              <a:defRPr/>
            </a:pPr>
            <a:r>
              <a:rPr kumimoji="1" lang="ja-JP" altLang="en-US" sz="2400" dirty="0"/>
              <a:t>（聞かれたら）45・200・400ミリ秒は、いずれも健聴の方が英語で測った値です。日本語やスマホの録画にそのまま当てはまるかは、これから確かめます。</a:t>
            </a:r>
          </a:p>
        </p:txBody>
      </p:sp>
      <p:sp>
        <p:nvSpPr>
          <p:cNvPr id="4" name="スライド番号プレースホルダー 3"/>
          <p:cNvSpPr>
            <a:spLocks noGrp="1"/>
          </p:cNvSpPr>
          <p:nvPr>
            <p:ph type="sldNum" sz="quarter" idx="10"/>
          </p:nvPr>
        </p:nvSpPr>
        <p:spPr/>
        <p:txBody>
          <a:bodyPr/>
          <a:lstStyle/>
          <a:p>
            <a:fld id="{7A9E1E52-1B0C-4B1E-9D0F-2C3A4B5C6D7E}" type="slidenum">
              <a:rPr kumimoji="1" lang="ja-JP" altLang="en-US" smtClean="0"/>
              <a:t>6</a:t>
            </a:fld>
            <a:endParaRPr kumimoji="1" lang="ja-JP"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8E10D62-C92A-4F1E-98D6-8AAD41AD50D4}"/>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3DA12759-84C9-4872-B09F-422C125F8F2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pic>
        <p:nvPicPr>
          <p:cNvPr id="7" name="図 6">
            <a:extLst>
              <a:ext uri="{FF2B5EF4-FFF2-40B4-BE49-F238E27FC236}">
                <a16:creationId xmlns:a16="http://schemas.microsoft.com/office/drawing/2014/main" id="{6FB15B41-7374-4CC7-9109-47CF158D07C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3350" y="4947285"/>
            <a:ext cx="4562475" cy="1824990"/>
          </a:xfrm>
          <a:prstGeom prst="rect">
            <a:avLst/>
          </a:prstGeom>
        </p:spPr>
      </p:pic>
    </p:spTree>
    <p:extLst>
      <p:ext uri="{BB962C8B-B14F-4D97-AF65-F5344CB8AC3E}">
        <p14:creationId xmlns:p14="http://schemas.microsoft.com/office/powerpoint/2010/main" val="22930926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セクションレイアウト">
    <p:spTree>
      <p:nvGrpSpPr>
        <p:cNvPr id="1" name=""/>
        <p:cNvGrpSpPr/>
        <p:nvPr/>
      </p:nvGrpSpPr>
      <p:grpSpPr>
        <a:xfrm>
          <a:off x="0" y="0"/>
          <a:ext cx="0" cy="0"/>
          <a:chOff x="0" y="0"/>
          <a:chExt cx="0" cy="0"/>
        </a:xfrm>
      </p:grpSpPr>
      <p:sp>
        <p:nvSpPr>
          <p:cNvPr id="3" name="日付プレースホルダー 2">
            <a:extLst>
              <a:ext uri="{FF2B5EF4-FFF2-40B4-BE49-F238E27FC236}">
                <a16:creationId xmlns:a16="http://schemas.microsoft.com/office/drawing/2014/main" id="{12BB12E4-4FB4-403B-93B8-BB9D7FC9C0D5}"/>
              </a:ext>
            </a:extLst>
          </p:cNvPr>
          <p:cNvSpPr>
            <a:spLocks noGrp="1"/>
          </p:cNvSpPr>
          <p:nvPr>
            <p:ph type="dt" sz="half" idx="10"/>
          </p:nvPr>
        </p:nvSpPr>
        <p:spPr>
          <a:xfrm>
            <a:off x="838200" y="6356350"/>
            <a:ext cx="2743200" cy="365125"/>
          </a:xfrm>
          <a:prstGeom prst="rect">
            <a:avLst/>
          </a:prstGeom>
        </p:spPr>
        <p:txBody>
          <a:bodyPr/>
          <a:lstStyle/>
          <a:p>
            <a:endParaRPr kumimoji="1" lang="ja-JP" altLang="en-US"/>
          </a:p>
        </p:txBody>
      </p:sp>
      <p:sp>
        <p:nvSpPr>
          <p:cNvPr id="4" name="フッター プレースホルダー 3">
            <a:extLst>
              <a:ext uri="{FF2B5EF4-FFF2-40B4-BE49-F238E27FC236}">
                <a16:creationId xmlns:a16="http://schemas.microsoft.com/office/drawing/2014/main" id="{63989B16-BB6F-4720-8B0E-61CAC0533C7B}"/>
              </a:ext>
            </a:extLst>
          </p:cNvPr>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B269366A-DF25-4519-BAC1-480D4D4D3751}"/>
              </a:ext>
            </a:extLst>
          </p:cNvPr>
          <p:cNvSpPr>
            <a:spLocks noGrp="1"/>
          </p:cNvSpPr>
          <p:nvPr>
            <p:ph type="sldNum" sz="quarter" idx="12"/>
          </p:nvPr>
        </p:nvSpPr>
        <p:spPr/>
        <p:txBody>
          <a:bodyPr/>
          <a:lstStyle/>
          <a:p>
            <a:fld id="{3E6C071F-0D9C-4209-B1B5-FDE6B10623E0}" type="slidenum">
              <a:rPr kumimoji="1" lang="ja-JP" altLang="en-US" smtClean="0"/>
              <a:t>‹#›</a:t>
            </a:fld>
            <a:endParaRPr kumimoji="1" lang="ja-JP" altLang="en-US"/>
          </a:p>
        </p:txBody>
      </p:sp>
      <p:sp>
        <p:nvSpPr>
          <p:cNvPr id="6" name="正方形/長方形 5">
            <a:extLst>
              <a:ext uri="{FF2B5EF4-FFF2-40B4-BE49-F238E27FC236}">
                <a16:creationId xmlns:a16="http://schemas.microsoft.com/office/drawing/2014/main" id="{84F8A609-CDB0-4A53-B415-41085FC3997F}"/>
              </a:ext>
            </a:extLst>
          </p:cNvPr>
          <p:cNvSpPr/>
          <p:nvPr userDrawn="1"/>
        </p:nvSpPr>
        <p:spPr>
          <a:xfrm>
            <a:off x="0" y="941546"/>
            <a:ext cx="12192000" cy="94456"/>
          </a:xfrm>
          <a:prstGeom prst="rect">
            <a:avLst/>
          </a:prstGeom>
          <a:gradFill flip="none" rotWithShape="1">
            <a:gsLst>
              <a:gs pos="50300">
                <a:srgbClr val="7191FB"/>
              </a:gs>
              <a:gs pos="0">
                <a:srgbClr val="003CFF"/>
              </a:gs>
              <a:gs pos="100000">
                <a:srgbClr val="E0E5F7">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D621C29B-1C6D-422E-8F84-C6A20BB72BBA}"/>
              </a:ext>
            </a:extLst>
          </p:cNvPr>
          <p:cNvSpPr>
            <a:spLocks noGrp="1"/>
          </p:cNvSpPr>
          <p:nvPr>
            <p:ph type="title"/>
          </p:nvPr>
        </p:nvSpPr>
        <p:spPr>
          <a:xfrm>
            <a:off x="76200" y="4643"/>
            <a:ext cx="10515600" cy="936904"/>
          </a:xfrm>
        </p:spPr>
        <p:txBody>
          <a:bodyPr/>
          <a:lstStyle/>
          <a:p>
            <a:r>
              <a:rPr kumimoji="1" lang="ja-JP" altLang="en-US"/>
              <a:t>マスター タイトルの書式設定</a:t>
            </a:r>
          </a:p>
        </p:txBody>
      </p:sp>
      <p:pic>
        <p:nvPicPr>
          <p:cNvPr id="7" name="図 6">
            <a:extLst>
              <a:ext uri="{FF2B5EF4-FFF2-40B4-BE49-F238E27FC236}">
                <a16:creationId xmlns:a16="http://schemas.microsoft.com/office/drawing/2014/main" id="{AD99C714-3F88-4772-B944-03EF6D78703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448925" y="115332"/>
            <a:ext cx="1743075" cy="697230"/>
          </a:xfrm>
          <a:prstGeom prst="rect">
            <a:avLst/>
          </a:prstGeom>
        </p:spPr>
      </p:pic>
    </p:spTree>
    <p:extLst>
      <p:ext uri="{BB962C8B-B14F-4D97-AF65-F5344CB8AC3E}">
        <p14:creationId xmlns:p14="http://schemas.microsoft.com/office/powerpoint/2010/main" val="4208300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セクションレイアウト_引用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30E7CD8-40FC-4276-9769-D0F74126EAF4}"/>
              </a:ext>
            </a:extLst>
          </p:cNvPr>
          <p:cNvSpPr>
            <a:spLocks noGrp="1"/>
          </p:cNvSpPr>
          <p:nvPr>
            <p:ph type="title"/>
          </p:nvPr>
        </p:nvSpPr>
        <p:spPr>
          <a:xfrm>
            <a:off x="76200" y="0"/>
            <a:ext cx="10515600" cy="941546"/>
          </a:xfrm>
        </p:spPr>
        <p:txBody>
          <a:bodyPr/>
          <a:lstStyle/>
          <a:p>
            <a:r>
              <a:rPr kumimoji="1" lang="ja-JP" altLang="en-US"/>
              <a:t>マスター タイトルの書式設定</a:t>
            </a:r>
          </a:p>
        </p:txBody>
      </p:sp>
      <p:sp>
        <p:nvSpPr>
          <p:cNvPr id="3" name="スライド番号プレースホルダー 2">
            <a:extLst>
              <a:ext uri="{FF2B5EF4-FFF2-40B4-BE49-F238E27FC236}">
                <a16:creationId xmlns:a16="http://schemas.microsoft.com/office/drawing/2014/main" id="{5DBCF50A-D14A-4AB8-AF69-317DB8320734}"/>
              </a:ext>
            </a:extLst>
          </p:cNvPr>
          <p:cNvSpPr>
            <a:spLocks noGrp="1"/>
          </p:cNvSpPr>
          <p:nvPr>
            <p:ph type="sldNum" sz="quarter" idx="10"/>
          </p:nvPr>
        </p:nvSpPr>
        <p:spPr/>
        <p:txBody>
          <a:bodyPr/>
          <a:lstStyle/>
          <a:p>
            <a:fld id="{3E6C071F-0D9C-4209-B1B5-FDE6B10623E0}" type="slidenum">
              <a:rPr lang="ja-JP" altLang="en-US" smtClean="0"/>
              <a:pPr/>
              <a:t>‹#›</a:t>
            </a:fld>
            <a:endParaRPr lang="ja-JP" altLang="en-US" dirty="0"/>
          </a:p>
        </p:txBody>
      </p:sp>
      <p:sp>
        <p:nvSpPr>
          <p:cNvPr id="4" name="正方形/長方形 3">
            <a:extLst>
              <a:ext uri="{FF2B5EF4-FFF2-40B4-BE49-F238E27FC236}">
                <a16:creationId xmlns:a16="http://schemas.microsoft.com/office/drawing/2014/main" id="{1CD32116-3149-4A79-AF49-7F7EC47A31CA}"/>
              </a:ext>
            </a:extLst>
          </p:cNvPr>
          <p:cNvSpPr/>
          <p:nvPr userDrawn="1"/>
        </p:nvSpPr>
        <p:spPr>
          <a:xfrm>
            <a:off x="0" y="941546"/>
            <a:ext cx="12192000" cy="94456"/>
          </a:xfrm>
          <a:prstGeom prst="rect">
            <a:avLst/>
          </a:prstGeom>
          <a:gradFill flip="none" rotWithShape="1">
            <a:gsLst>
              <a:gs pos="50300">
                <a:srgbClr val="7191FB"/>
              </a:gs>
              <a:gs pos="0">
                <a:srgbClr val="003CFF"/>
              </a:gs>
              <a:gs pos="100000">
                <a:srgbClr val="E0E5F7">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5" name="図 4">
            <a:extLst>
              <a:ext uri="{FF2B5EF4-FFF2-40B4-BE49-F238E27FC236}">
                <a16:creationId xmlns:a16="http://schemas.microsoft.com/office/drawing/2014/main" id="{80F0CA54-1FF0-4446-B8F6-4E9CA4FBD12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448925" y="115332"/>
            <a:ext cx="1743075" cy="697230"/>
          </a:xfrm>
          <a:prstGeom prst="rect">
            <a:avLst/>
          </a:prstGeom>
        </p:spPr>
      </p:pic>
      <p:cxnSp>
        <p:nvCxnSpPr>
          <p:cNvPr id="7" name="直線コネクタ 6">
            <a:extLst>
              <a:ext uri="{FF2B5EF4-FFF2-40B4-BE49-F238E27FC236}">
                <a16:creationId xmlns:a16="http://schemas.microsoft.com/office/drawing/2014/main" id="{0B2B1F7C-0E26-442F-8C28-A08ABD2F5E2E}"/>
              </a:ext>
            </a:extLst>
          </p:cNvPr>
          <p:cNvCxnSpPr>
            <a:cxnSpLocks/>
          </p:cNvCxnSpPr>
          <p:nvPr userDrawn="1"/>
        </p:nvCxnSpPr>
        <p:spPr>
          <a:xfrm>
            <a:off x="0" y="6029325"/>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10" name="テキスト プレースホルダー 9">
            <a:extLst>
              <a:ext uri="{FF2B5EF4-FFF2-40B4-BE49-F238E27FC236}">
                <a16:creationId xmlns:a16="http://schemas.microsoft.com/office/drawing/2014/main" id="{53F33C3A-E648-4AC6-A84A-D7699640E9AB}"/>
              </a:ext>
            </a:extLst>
          </p:cNvPr>
          <p:cNvSpPr>
            <a:spLocks noGrp="1"/>
          </p:cNvSpPr>
          <p:nvPr>
            <p:ph type="body" sz="quarter" idx="11"/>
          </p:nvPr>
        </p:nvSpPr>
        <p:spPr>
          <a:xfrm>
            <a:off x="76200" y="6029325"/>
            <a:ext cx="12039600" cy="828672"/>
          </a:xfrm>
        </p:spPr>
        <p:txBody>
          <a:bodyPr>
            <a:normAutofit/>
          </a:bodyPr>
          <a:lstStyle>
            <a:lvl1pPr>
              <a:defRPr sz="1400"/>
            </a:lvl1pPr>
            <a:lvl2pPr marL="457200" indent="0">
              <a:buNone/>
              <a:defRPr/>
            </a:lvl2pPr>
          </a:lstStyle>
          <a:p>
            <a:pPr lvl="0"/>
            <a:r>
              <a:rPr kumimoji="1" lang="ja-JP" altLang="en-US" dirty="0"/>
              <a:t>マスター テキストの書式設定</a:t>
            </a:r>
          </a:p>
        </p:txBody>
      </p:sp>
    </p:spTree>
    <p:extLst>
      <p:ext uri="{BB962C8B-B14F-4D97-AF65-F5344CB8AC3E}">
        <p14:creationId xmlns:p14="http://schemas.microsoft.com/office/powerpoint/2010/main" val="3824981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セクションレイアウト_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677B989D-4740-4A96-A8FE-30CCCA49F0C7}"/>
              </a:ext>
            </a:extLst>
          </p:cNvPr>
          <p:cNvSpPr>
            <a:spLocks noGrp="1"/>
          </p:cNvSpPr>
          <p:nvPr>
            <p:ph type="dt" sz="half" idx="10"/>
          </p:nvPr>
        </p:nvSpPr>
        <p:spPr>
          <a:xfrm>
            <a:off x="838200" y="6356350"/>
            <a:ext cx="2743200" cy="365125"/>
          </a:xfrm>
          <a:prstGeom prst="rect">
            <a:avLst/>
          </a:prstGeom>
        </p:spPr>
        <p:txBody>
          <a:bodyPr/>
          <a:lstStyle/>
          <a:p>
            <a:endParaRPr kumimoji="1" lang="ja-JP" altLang="en-US"/>
          </a:p>
        </p:txBody>
      </p:sp>
      <p:sp>
        <p:nvSpPr>
          <p:cNvPr id="3" name="フッター プレースホルダー 2">
            <a:extLst>
              <a:ext uri="{FF2B5EF4-FFF2-40B4-BE49-F238E27FC236}">
                <a16:creationId xmlns:a16="http://schemas.microsoft.com/office/drawing/2014/main" id="{46A4F63D-54A3-4368-BDE4-8143D4E107CA}"/>
              </a:ext>
            </a:extLst>
          </p:cNvPr>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F1B8AC74-6922-4AED-8284-190F413E73E8}"/>
              </a:ext>
            </a:extLst>
          </p:cNvPr>
          <p:cNvSpPr>
            <a:spLocks noGrp="1"/>
          </p:cNvSpPr>
          <p:nvPr>
            <p:ph type="sldNum" sz="quarter" idx="12"/>
          </p:nvPr>
        </p:nvSpPr>
        <p:spPr/>
        <p:txBody>
          <a:bodyPr/>
          <a:lstStyle/>
          <a:p>
            <a:fld id="{3E6C071F-0D9C-4209-B1B5-FDE6B10623E0}" type="slidenum">
              <a:rPr kumimoji="1" lang="ja-JP" altLang="en-US" smtClean="0"/>
              <a:t>‹#›</a:t>
            </a:fld>
            <a:endParaRPr kumimoji="1" lang="ja-JP" altLang="en-US"/>
          </a:p>
        </p:txBody>
      </p:sp>
      <p:pic>
        <p:nvPicPr>
          <p:cNvPr id="5" name="図 4">
            <a:extLst>
              <a:ext uri="{FF2B5EF4-FFF2-40B4-BE49-F238E27FC236}">
                <a16:creationId xmlns:a16="http://schemas.microsoft.com/office/drawing/2014/main" id="{C47FB028-DD22-426B-A01D-C63796C41AD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448925" y="115332"/>
            <a:ext cx="1743075" cy="697230"/>
          </a:xfrm>
          <a:prstGeom prst="rect">
            <a:avLst/>
          </a:prstGeom>
        </p:spPr>
      </p:pic>
    </p:spTree>
    <p:extLst>
      <p:ext uri="{BB962C8B-B14F-4D97-AF65-F5344CB8AC3E}">
        <p14:creationId xmlns:p14="http://schemas.microsoft.com/office/powerpoint/2010/main" val="11719368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タイトルレイアウト02">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13BC383-D445-46D7-A9BE-66B84569D823}"/>
              </a:ext>
            </a:extLst>
          </p:cNvPr>
          <p:cNvSpPr>
            <a:spLocks noGrp="1"/>
          </p:cNvSpPr>
          <p:nvPr>
            <p:ph type="title"/>
          </p:nvPr>
        </p:nvSpPr>
        <p:spPr>
          <a:xfrm>
            <a:off x="116712" y="1803585"/>
            <a:ext cx="10515600" cy="1325563"/>
          </a:xfrm>
        </p:spPr>
        <p:txBody>
          <a:bodyPr>
            <a:normAutofit/>
          </a:bodyPr>
          <a:lstStyle>
            <a:lvl1pPr>
              <a:defRPr sz="6000"/>
            </a:lvl1pPr>
          </a:lstStyle>
          <a:p>
            <a:r>
              <a:rPr kumimoji="1" lang="ja-JP" altLang="en-US" dirty="0"/>
              <a:t>マスター タイトルの書式設定</a:t>
            </a:r>
          </a:p>
        </p:txBody>
      </p:sp>
      <p:sp>
        <p:nvSpPr>
          <p:cNvPr id="4" name="正方形/長方形 3">
            <a:extLst>
              <a:ext uri="{FF2B5EF4-FFF2-40B4-BE49-F238E27FC236}">
                <a16:creationId xmlns:a16="http://schemas.microsoft.com/office/drawing/2014/main" id="{E456AA36-8927-46F0-B179-7AECE390502A}"/>
              </a:ext>
            </a:extLst>
          </p:cNvPr>
          <p:cNvSpPr/>
          <p:nvPr userDrawn="1"/>
        </p:nvSpPr>
        <p:spPr>
          <a:xfrm>
            <a:off x="0" y="3129148"/>
            <a:ext cx="12192000" cy="94456"/>
          </a:xfrm>
          <a:prstGeom prst="rect">
            <a:avLst/>
          </a:prstGeom>
          <a:gradFill flip="none" rotWithShape="1">
            <a:gsLst>
              <a:gs pos="0">
                <a:srgbClr val="270AFE"/>
              </a:gs>
              <a:gs pos="100000">
                <a:srgbClr val="E0E5F7">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プレースホルダー 5">
            <a:extLst>
              <a:ext uri="{FF2B5EF4-FFF2-40B4-BE49-F238E27FC236}">
                <a16:creationId xmlns:a16="http://schemas.microsoft.com/office/drawing/2014/main" id="{08117097-358B-4C92-A4F5-0ED0DE0D6632}"/>
              </a:ext>
            </a:extLst>
          </p:cNvPr>
          <p:cNvSpPr>
            <a:spLocks noGrp="1"/>
          </p:cNvSpPr>
          <p:nvPr>
            <p:ph type="body" sz="quarter" idx="11"/>
          </p:nvPr>
        </p:nvSpPr>
        <p:spPr>
          <a:xfrm>
            <a:off x="116712" y="3445608"/>
            <a:ext cx="10515600" cy="1860550"/>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pic>
        <p:nvPicPr>
          <p:cNvPr id="7" name="図 6">
            <a:extLst>
              <a:ext uri="{FF2B5EF4-FFF2-40B4-BE49-F238E27FC236}">
                <a16:creationId xmlns:a16="http://schemas.microsoft.com/office/drawing/2014/main" id="{DF76C799-F711-44C6-BC37-713FC45F0B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35847" y="4902199"/>
            <a:ext cx="4651378" cy="1860551"/>
          </a:xfrm>
          <a:prstGeom prst="rect">
            <a:avLst/>
          </a:prstGeom>
        </p:spPr>
      </p:pic>
    </p:spTree>
    <p:extLst>
      <p:ext uri="{BB962C8B-B14F-4D97-AF65-F5344CB8AC3E}">
        <p14:creationId xmlns:p14="http://schemas.microsoft.com/office/powerpoint/2010/main" val="121131268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FB61AB44-B507-4BA8-A329-22D5654AEED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73977671-9D5B-45FB-BF41-47FCF4E2AB3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6" name="スライド番号プレースホルダー 5">
            <a:extLst>
              <a:ext uri="{FF2B5EF4-FFF2-40B4-BE49-F238E27FC236}">
                <a16:creationId xmlns:a16="http://schemas.microsoft.com/office/drawing/2014/main" id="{1DE0CCD0-3AC3-49BA-9FD3-94611FB7B952}"/>
              </a:ext>
            </a:extLst>
          </p:cNvPr>
          <p:cNvSpPr>
            <a:spLocks noGrp="1"/>
          </p:cNvSpPr>
          <p:nvPr>
            <p:ph type="sldNum" sz="quarter" idx="4"/>
          </p:nvPr>
        </p:nvSpPr>
        <p:spPr>
          <a:xfrm>
            <a:off x="9372600" y="51594"/>
            <a:ext cx="2743200" cy="365125"/>
          </a:xfrm>
          <a:prstGeom prst="rect">
            <a:avLst/>
          </a:prstGeom>
        </p:spPr>
        <p:txBody>
          <a:bodyPr vert="horz" lIns="91440" tIns="45720" rIns="91440" bIns="45720" rtlCol="0" anchor="ctr"/>
          <a:lstStyle>
            <a:lvl1pPr algn="r">
              <a:defRPr sz="2400" b="1">
                <a:solidFill>
                  <a:schemeClr val="tx1"/>
                </a:solidFill>
                <a:latin typeface="+mj-ea"/>
                <a:ea typeface="+mj-ea"/>
              </a:defRPr>
            </a:lvl1pPr>
          </a:lstStyle>
          <a:p>
            <a:fld id="{3E6C071F-0D9C-4209-B1B5-FDE6B10623E0}" type="slidenum">
              <a:rPr lang="ja-JP" altLang="en-US" smtClean="0"/>
              <a:pPr/>
              <a:t>‹#›</a:t>
            </a:fld>
            <a:endParaRPr lang="ja-JP" altLang="en-US" dirty="0"/>
          </a:p>
        </p:txBody>
      </p:sp>
    </p:spTree>
    <p:extLst>
      <p:ext uri="{BB962C8B-B14F-4D97-AF65-F5344CB8AC3E}">
        <p14:creationId xmlns:p14="http://schemas.microsoft.com/office/powerpoint/2010/main" val="3170076339"/>
      </p:ext>
    </p:extLst>
  </p:cSld>
  <p:clrMap bg1="lt1" tx1="dk1" bg2="lt2" tx2="dk2" accent1="accent1" accent2="accent2" accent3="accent3" accent4="accent4" accent5="accent5" accent6="accent6" hlink="hlink" folHlink="folHlink"/>
  <p:sldLayoutIdLst>
    <p:sldLayoutId id="2147483649" r:id="rId1"/>
    <p:sldLayoutId id="2147483654" r:id="rId2"/>
    <p:sldLayoutId id="2147483657" r:id="rId3"/>
    <p:sldLayoutId id="2147483655" r:id="rId4"/>
    <p:sldLayoutId id="2147483656" r:id="rId5"/>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94C8B-D7B7-A606-C8B8-A83F2A8FD88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BB15E62-D77B-5471-4EE2-5A3294FD4E10}"/>
              </a:ext>
            </a:extLst>
          </p:cNvPr>
          <p:cNvSpPr>
            <a:spLocks noGrp="1"/>
          </p:cNvSpPr>
          <p:nvPr>
            <p:ph type="ctrTitle"/>
          </p:nvPr>
        </p:nvSpPr>
        <p:spPr>
          <a:xfrm>
            <a:off x="2469285" y="1013012"/>
            <a:ext cx="7253431" cy="2254101"/>
          </a:xfrm>
        </p:spPr>
        <p:txBody>
          <a:bodyPr>
            <a:normAutofit/>
          </a:bodyPr>
          <a:lstStyle/>
          <a:p>
            <a:r>
              <a:rPr kumimoji="1" lang="ja-JP" altLang="en-US" dirty="0"/>
              <a:t>研究室</a:t>
            </a:r>
            <a:r>
              <a:rPr kumimoji="1" lang="en-US" altLang="ja-JP" dirty="0"/>
              <a:t>mtg</a:t>
            </a:r>
            <a:br>
              <a:rPr kumimoji="1" lang="en-US" altLang="ja-JP" sz="1000" dirty="0"/>
            </a:br>
            <a:r>
              <a:rPr kumimoji="1" lang="ja-JP" altLang="en-US" sz="1000" dirty="0">
                <a:solidFill>
                  <a:schemeClr val="bg1"/>
                </a:solidFill>
              </a:rPr>
              <a:t>プロジェクトデザイン</a:t>
            </a:r>
            <a:r>
              <a:rPr kumimoji="1" lang="en-US" altLang="ja-JP" sz="1000" dirty="0">
                <a:solidFill>
                  <a:schemeClr val="bg1"/>
                </a:solidFill>
              </a:rPr>
              <a:t>Ⅲ</a:t>
            </a:r>
            <a:br>
              <a:rPr kumimoji="1" lang="en-US" altLang="ja-JP" dirty="0"/>
            </a:br>
            <a:r>
              <a:rPr kumimoji="1" lang="en-US" altLang="ja-JP" sz="4500" dirty="0"/>
              <a:t>- </a:t>
            </a:r>
            <a:r>
              <a:rPr kumimoji="1" lang="ja-JP" altLang="en-US" sz="4500" dirty="0"/>
              <a:t>個人報告 </a:t>
            </a:r>
            <a:r>
              <a:rPr kumimoji="1" lang="en-US" altLang="ja-JP" sz="4500" dirty="0"/>
              <a:t>-</a:t>
            </a:r>
            <a:endParaRPr kumimoji="1" lang="ja-JP" altLang="en-US" sz="4500" dirty="0"/>
          </a:p>
        </p:txBody>
      </p:sp>
      <p:sp>
        <p:nvSpPr>
          <p:cNvPr id="3" name="字幕 2">
            <a:extLst>
              <a:ext uri="{FF2B5EF4-FFF2-40B4-BE49-F238E27FC236}">
                <a16:creationId xmlns:a16="http://schemas.microsoft.com/office/drawing/2014/main" id="{A36AD69F-1B48-4880-2C0B-26362FE3DA22}"/>
              </a:ext>
            </a:extLst>
          </p:cNvPr>
          <p:cNvSpPr>
            <a:spLocks noGrp="1"/>
          </p:cNvSpPr>
          <p:nvPr>
            <p:ph type="subTitle" idx="1"/>
          </p:nvPr>
        </p:nvSpPr>
        <p:spPr>
          <a:xfrm>
            <a:off x="3868074" y="3832411"/>
            <a:ext cx="4455852" cy="1196789"/>
          </a:xfrm>
        </p:spPr>
        <p:txBody>
          <a:bodyPr vert="horz" lIns="91440" tIns="45720" rIns="91440" bIns="45720" rtlCol="0" anchor="t">
            <a:normAutofit/>
          </a:bodyPr>
          <a:lstStyle/>
          <a:p>
            <a:r>
              <a:rPr lang="en-US" sz="3000" dirty="0">
                <a:ea typeface="+mn-lt"/>
                <a:cs typeface="+mn-lt"/>
              </a:rPr>
              <a:t>SP-PS</a:t>
            </a:r>
          </a:p>
          <a:p>
            <a:r>
              <a:rPr lang="en-US" altLang="ja-JP" sz="3000" dirty="0">
                <a:ea typeface="+mn-lt"/>
                <a:cs typeface="+mn-lt"/>
              </a:rPr>
              <a:t>4EP1-064 前田　侑輝</a:t>
            </a:r>
            <a:endParaRPr lang="ja-JP" altLang="en-US" sz="3000" dirty="0">
              <a:ea typeface="+mn-lt"/>
              <a:cs typeface="+mn-lt"/>
            </a:endParaRPr>
          </a:p>
          <a:p>
            <a:endParaRPr lang="en-US" altLang="ja-JP" sz="3000" dirty="0">
              <a:ea typeface="ＭＳ ゴシック"/>
            </a:endParaRPr>
          </a:p>
        </p:txBody>
      </p:sp>
    </p:spTree>
    <p:extLst>
      <p:ext uri="{BB962C8B-B14F-4D97-AF65-F5344CB8AC3E}">
        <p14:creationId xmlns:p14="http://schemas.microsoft.com/office/powerpoint/2010/main" val="362915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 name="図形 501"/>
          <p:cNvSpPr/>
          <p:nvPr/>
        </p:nvSpPr>
        <p:spPr>
          <a:xfrm>
            <a:off x="219456" y="274320"/>
            <a:ext cx="96012" cy="457200"/>
          </a:xfrm>
          <a:prstGeom prst="rect">
            <a:avLst/>
          </a:prstGeom>
          <a:solidFill>
            <a:srgbClr val="203864"/>
          </a:solidFill>
          <a:ln>
            <a:noFill/>
          </a:ln>
        </p:spPr>
        <p:txBody>
          <a:bodyPr wrap="square" lIns="109728" tIns="45720" rIns="109728" bIns="45720" rtlCol="0" anchor="ctr">
            <a:noAutofit/>
          </a:bodyPr>
          <a:lstStyle/>
          <a:p>
            <a:pPr algn="ctr"/>
            <a:endParaRPr lang="ja-JP"/>
          </a:p>
        </p:txBody>
      </p:sp>
      <p:sp>
        <p:nvSpPr>
          <p:cNvPr id="502" name="テキスト ボックス 502"/>
          <p:cNvSpPr txBox="1"/>
          <p:nvPr/>
        </p:nvSpPr>
        <p:spPr>
          <a:xfrm>
            <a:off x="502920" y="79848"/>
            <a:ext cx="9555480" cy="841248"/>
          </a:xfrm>
          <a:prstGeom prst="rect">
            <a:avLst/>
          </a:prstGeom>
          <a:noFill/>
        </p:spPr>
        <p:txBody>
          <a:bodyPr wrap="square" lIns="0" tIns="0" rIns="0" bIns="0" rtlCol="0" anchor="ctr">
            <a:noAutofit/>
          </a:bodyPr>
          <a:lstStyle/>
          <a:p>
            <a:pPr algn="l">
              <a:lnSpc>
                <a:spcPct val="100000"/>
              </a:lnSpc>
              <a:buNone/>
            </a:pPr>
            <a:r>
              <a:rPr kumimoji="1" lang="ja-JP" altLang="en-US" sz="3000" b="1" dirty="0">
                <a:solidFill>
                  <a:srgbClr val="203864"/>
                </a:solidFill>
                <a:latin typeface="MS PGothic"/>
                <a:ea typeface="MS PGothic"/>
              </a:rPr>
              <a:t>今週やったこと</a:t>
            </a:r>
          </a:p>
        </p:txBody>
      </p:sp>
      <p:sp>
        <p:nvSpPr>
          <p:cNvPr id="503" name="スライド番号プレースホルダー 503"/>
          <p:cNvSpPr>
            <a:spLocks noGrp="1"/>
          </p:cNvSpPr>
          <p:nvPr>
            <p:ph type="sldNum" sz="quarter" idx="12"/>
          </p:nvPr>
        </p:nvSpPr>
        <p:spPr/>
        <p:txBody>
          <a:bodyPr/>
          <a:lstStyle/>
          <a:p>
            <a:fld id="{3E6C071F-0D9C-4209-B1B5-FDE6B10623E0}" type="slidenum">
              <a:rPr kumimoji="1" lang="ja-JP" altLang="en-US" smtClean="0"/>
              <a:t>1</a:t>
            </a:fld>
            <a:endParaRPr kumimoji="1" lang="ja-JP" altLang="en-US"/>
          </a:p>
        </p:txBody>
      </p:sp>
      <p:sp>
        <p:nvSpPr>
          <p:cNvPr id="504" name="図形 504"/>
          <p:cNvSpPr/>
          <p:nvPr/>
        </p:nvSpPr>
        <p:spPr>
          <a:xfrm>
            <a:off x="502920" y="1369695"/>
            <a:ext cx="11183112" cy="1060704"/>
          </a:xfrm>
          <a:prstGeom prst="rect">
            <a:avLst/>
          </a:prstGeom>
          <a:solidFill>
            <a:srgbClr val="F3F4F6"/>
          </a:solidFill>
          <a:ln>
            <a:noFill/>
          </a:ln>
        </p:spPr>
        <p:txBody>
          <a:bodyPr wrap="square" lIns="109728" tIns="45720" rIns="109728" bIns="45720" rtlCol="0" anchor="ctr">
            <a:noAutofit/>
          </a:bodyPr>
          <a:lstStyle/>
          <a:p>
            <a:pPr algn="ctr"/>
            <a:endParaRPr lang="ja-JP"/>
          </a:p>
        </p:txBody>
      </p:sp>
      <p:sp>
        <p:nvSpPr>
          <p:cNvPr id="505" name="図形 505"/>
          <p:cNvSpPr/>
          <p:nvPr/>
        </p:nvSpPr>
        <p:spPr>
          <a:xfrm>
            <a:off x="502920" y="1369695"/>
            <a:ext cx="96012" cy="1060704"/>
          </a:xfrm>
          <a:prstGeom prst="rect">
            <a:avLst/>
          </a:prstGeom>
          <a:solidFill>
            <a:srgbClr val="203864"/>
          </a:solidFill>
          <a:ln>
            <a:noFill/>
          </a:ln>
        </p:spPr>
        <p:txBody>
          <a:bodyPr wrap="square" lIns="109728" tIns="45720" rIns="109728" bIns="45720" rtlCol="0" anchor="ctr">
            <a:noAutofit/>
          </a:bodyPr>
          <a:lstStyle/>
          <a:p>
            <a:pPr algn="ctr"/>
            <a:endParaRPr lang="ja-JP"/>
          </a:p>
        </p:txBody>
      </p:sp>
      <p:sp>
        <p:nvSpPr>
          <p:cNvPr id="506" name="テキスト ボックス 506"/>
          <p:cNvSpPr txBox="1"/>
          <p:nvPr/>
        </p:nvSpPr>
        <p:spPr>
          <a:xfrm>
            <a:off x="841248" y="1369695"/>
            <a:ext cx="10661904" cy="1060704"/>
          </a:xfrm>
          <a:prstGeom prst="rect">
            <a:avLst/>
          </a:prstGeom>
          <a:noFill/>
        </p:spPr>
        <p:txBody>
          <a:bodyPr wrap="square" lIns="0" tIns="0" rIns="0" bIns="0" rtlCol="0" anchor="ctr">
            <a:noAutofit/>
          </a:bodyPr>
          <a:lstStyle/>
          <a:p>
            <a:pPr algn="l">
              <a:lnSpc>
                <a:spcPct val="118000"/>
              </a:lnSpc>
              <a:buNone/>
            </a:pPr>
            <a:r>
              <a:rPr kumimoji="1" lang="ja-JP" altLang="en-US" sz="3100" b="1" dirty="0">
                <a:solidFill>
                  <a:srgbClr val="203864"/>
                </a:solidFill>
                <a:latin typeface="MS PGothic"/>
                <a:ea typeface="MS PGothic"/>
              </a:rPr>
              <a:t>測るだけだったズレを、合計点から減点するようにした</a:t>
            </a:r>
          </a:p>
        </p:txBody>
      </p:sp>
      <p:sp>
        <p:nvSpPr>
          <p:cNvPr id="511" name="図形 511"/>
          <p:cNvSpPr/>
          <p:nvPr/>
        </p:nvSpPr>
        <p:spPr>
          <a:xfrm>
            <a:off x="502920" y="2913507"/>
            <a:ext cx="5486400" cy="2359152"/>
          </a:xfrm>
          <a:prstGeom prst="rect">
            <a:avLst/>
          </a:prstGeom>
          <a:solidFill>
            <a:srgbClr val="F4F6FA"/>
          </a:solidFill>
          <a:ln w="15875">
            <a:solidFill>
              <a:srgbClr val="D5DCE6"/>
            </a:solidFill>
          </a:ln>
        </p:spPr>
        <p:txBody>
          <a:bodyPr wrap="square" lIns="109728" tIns="45720" rIns="109728" bIns="45720" rtlCol="0" anchor="ctr">
            <a:noAutofit/>
          </a:bodyPr>
          <a:lstStyle/>
          <a:p>
            <a:pPr algn="ctr"/>
            <a:endParaRPr lang="ja-JP"/>
          </a:p>
        </p:txBody>
      </p:sp>
      <p:sp>
        <p:nvSpPr>
          <p:cNvPr id="512" name="図形 512"/>
          <p:cNvSpPr/>
          <p:nvPr/>
        </p:nvSpPr>
        <p:spPr>
          <a:xfrm>
            <a:off x="502920" y="2913507"/>
            <a:ext cx="5486400" cy="713232"/>
          </a:xfrm>
          <a:prstGeom prst="rect">
            <a:avLst/>
          </a:prstGeom>
          <a:solidFill>
            <a:srgbClr val="6B7C96"/>
          </a:solidFill>
          <a:ln>
            <a:noFill/>
          </a:ln>
        </p:spPr>
        <p:txBody>
          <a:bodyPr wrap="square" lIns="109728" tIns="45720" rIns="109728" bIns="45720" rtlCol="0" anchor="ctr">
            <a:noAutofit/>
          </a:bodyPr>
          <a:lstStyle/>
          <a:p>
            <a:pPr algn="ctr"/>
            <a:endParaRPr lang="ja-JP"/>
          </a:p>
        </p:txBody>
      </p:sp>
      <p:sp>
        <p:nvSpPr>
          <p:cNvPr id="513" name="テキスト ボックス 513"/>
          <p:cNvSpPr txBox="1"/>
          <p:nvPr/>
        </p:nvSpPr>
        <p:spPr>
          <a:xfrm>
            <a:off x="731520" y="2913507"/>
            <a:ext cx="5029200" cy="713232"/>
          </a:xfrm>
          <a:prstGeom prst="rect">
            <a:avLst/>
          </a:prstGeom>
          <a:noFill/>
        </p:spPr>
        <p:txBody>
          <a:bodyPr wrap="square" lIns="0" tIns="0" rIns="0" bIns="0" rtlCol="0" anchor="ctr">
            <a:noAutofit/>
          </a:bodyPr>
          <a:lstStyle/>
          <a:p>
            <a:pPr algn="l">
              <a:buNone/>
            </a:pPr>
            <a:r>
              <a:rPr kumimoji="1" lang="ja-JP" altLang="en-US" sz="2600" b="1" dirty="0">
                <a:solidFill>
                  <a:srgbClr val="FFFFFF"/>
                </a:solidFill>
                <a:latin typeface="MS PGothic"/>
                <a:ea typeface="MS PGothic"/>
              </a:rPr>
              <a:t>これまで</a:t>
            </a:r>
          </a:p>
        </p:txBody>
      </p:sp>
      <p:sp>
        <p:nvSpPr>
          <p:cNvPr id="514" name="テキスト ボックス 514"/>
          <p:cNvSpPr txBox="1"/>
          <p:nvPr/>
        </p:nvSpPr>
        <p:spPr>
          <a:xfrm>
            <a:off x="777240" y="3827907"/>
            <a:ext cx="310896" cy="493776"/>
          </a:xfrm>
          <a:prstGeom prst="rect">
            <a:avLst/>
          </a:prstGeom>
          <a:noFill/>
        </p:spPr>
        <p:txBody>
          <a:bodyPr wrap="square" lIns="0" tIns="0" rIns="0" bIns="0" rtlCol="0" anchor="ctr">
            <a:noAutofit/>
          </a:bodyPr>
          <a:lstStyle/>
          <a:p>
            <a:pPr algn="l">
              <a:buNone/>
            </a:pPr>
            <a:r>
              <a:rPr kumimoji="1" lang="ja-JP" altLang="en-US" sz="1800" dirty="0">
                <a:solidFill>
                  <a:srgbClr val="6B7C96"/>
                </a:solidFill>
                <a:latin typeface="MS PGothic"/>
                <a:ea typeface="MS PGothic"/>
              </a:rPr>
              <a:t>●</a:t>
            </a:r>
          </a:p>
        </p:txBody>
      </p:sp>
      <p:sp>
        <p:nvSpPr>
          <p:cNvPr id="515" name="テキスト ボックス 515"/>
          <p:cNvSpPr txBox="1"/>
          <p:nvPr/>
        </p:nvSpPr>
        <p:spPr>
          <a:xfrm>
            <a:off x="1088136" y="3827907"/>
            <a:ext cx="4626864" cy="493776"/>
          </a:xfrm>
          <a:prstGeom prst="rect">
            <a:avLst/>
          </a:prstGeom>
          <a:noFill/>
        </p:spPr>
        <p:txBody>
          <a:bodyPr wrap="square" lIns="0" tIns="0" rIns="0" bIns="0" rtlCol="0" anchor="ctr">
            <a:noAutofit/>
          </a:bodyPr>
          <a:lstStyle/>
          <a:p>
            <a:pPr algn="l">
              <a:lnSpc>
                <a:spcPct val="118000"/>
              </a:lnSpc>
              <a:buNone/>
            </a:pPr>
            <a:r>
              <a:rPr kumimoji="1" lang="ja-JP" altLang="en-US" sz="2400" dirty="0">
                <a:solidFill>
                  <a:srgbClr val="17253C"/>
                </a:solidFill>
                <a:latin typeface="MS PGothic"/>
                <a:ea typeface="MS PGothic"/>
              </a:rPr>
              <a:t>ズレはミリ秒で表示するだけ</a:t>
            </a:r>
          </a:p>
        </p:txBody>
      </p:sp>
      <p:sp>
        <p:nvSpPr>
          <p:cNvPr id="516" name="テキスト ボックス 516"/>
          <p:cNvSpPr txBox="1"/>
          <p:nvPr/>
        </p:nvSpPr>
        <p:spPr>
          <a:xfrm>
            <a:off x="777240" y="4467987"/>
            <a:ext cx="310896" cy="493776"/>
          </a:xfrm>
          <a:prstGeom prst="rect">
            <a:avLst/>
          </a:prstGeom>
          <a:noFill/>
        </p:spPr>
        <p:txBody>
          <a:bodyPr wrap="square" lIns="0" tIns="0" rIns="0" bIns="0" rtlCol="0" anchor="ctr">
            <a:noAutofit/>
          </a:bodyPr>
          <a:lstStyle/>
          <a:p>
            <a:pPr algn="l">
              <a:buNone/>
            </a:pPr>
            <a:r>
              <a:rPr kumimoji="1" lang="ja-JP" altLang="en-US" sz="1800" dirty="0">
                <a:solidFill>
                  <a:srgbClr val="6B7C96"/>
                </a:solidFill>
                <a:latin typeface="MS PGothic"/>
                <a:ea typeface="MS PGothic"/>
              </a:rPr>
              <a:t>●</a:t>
            </a:r>
          </a:p>
        </p:txBody>
      </p:sp>
      <p:sp>
        <p:nvSpPr>
          <p:cNvPr id="517" name="テキスト ボックス 517"/>
          <p:cNvSpPr txBox="1"/>
          <p:nvPr/>
        </p:nvSpPr>
        <p:spPr>
          <a:xfrm>
            <a:off x="1088136" y="4467987"/>
            <a:ext cx="4626864" cy="493776"/>
          </a:xfrm>
          <a:prstGeom prst="rect">
            <a:avLst/>
          </a:prstGeom>
          <a:noFill/>
        </p:spPr>
        <p:txBody>
          <a:bodyPr wrap="square" lIns="0" tIns="0" rIns="0" bIns="0" rtlCol="0" anchor="ctr">
            <a:noAutofit/>
          </a:bodyPr>
          <a:lstStyle/>
          <a:p>
            <a:pPr algn="l">
              <a:lnSpc>
                <a:spcPct val="118000"/>
              </a:lnSpc>
              <a:buNone/>
            </a:pPr>
            <a:r>
              <a:rPr kumimoji="1" lang="ja-JP" altLang="en-US" sz="2400" dirty="0">
                <a:solidFill>
                  <a:srgbClr val="17253C"/>
                </a:solidFill>
                <a:latin typeface="MS PGothic"/>
                <a:ea typeface="MS PGothic"/>
              </a:rPr>
              <a:t>合計点とは、別あつかい</a:t>
            </a:r>
          </a:p>
        </p:txBody>
      </p:sp>
      <p:sp>
        <p:nvSpPr>
          <p:cNvPr id="518" name="図形 518"/>
          <p:cNvSpPr/>
          <p:nvPr/>
        </p:nvSpPr>
        <p:spPr>
          <a:xfrm>
            <a:off x="6199632" y="2913507"/>
            <a:ext cx="5486400" cy="2359152"/>
          </a:xfrm>
          <a:prstGeom prst="rect">
            <a:avLst/>
          </a:prstGeom>
          <a:solidFill>
            <a:srgbClr val="F4F6FA"/>
          </a:solidFill>
          <a:ln w="15875">
            <a:solidFill>
              <a:srgbClr val="D5DCE6"/>
            </a:solidFill>
          </a:ln>
        </p:spPr>
        <p:txBody>
          <a:bodyPr wrap="square" lIns="109728" tIns="45720" rIns="109728" bIns="45720" rtlCol="0" anchor="ctr">
            <a:noAutofit/>
          </a:bodyPr>
          <a:lstStyle/>
          <a:p>
            <a:pPr algn="ctr"/>
            <a:endParaRPr lang="ja-JP"/>
          </a:p>
        </p:txBody>
      </p:sp>
      <p:sp>
        <p:nvSpPr>
          <p:cNvPr id="519" name="図形 519"/>
          <p:cNvSpPr/>
          <p:nvPr/>
        </p:nvSpPr>
        <p:spPr>
          <a:xfrm>
            <a:off x="6199632" y="2913507"/>
            <a:ext cx="5486400" cy="713232"/>
          </a:xfrm>
          <a:prstGeom prst="rect">
            <a:avLst/>
          </a:prstGeom>
          <a:solidFill>
            <a:srgbClr val="203864"/>
          </a:solidFill>
          <a:ln>
            <a:noFill/>
          </a:ln>
        </p:spPr>
        <p:txBody>
          <a:bodyPr wrap="square" lIns="109728" tIns="45720" rIns="109728" bIns="45720" rtlCol="0" anchor="ctr">
            <a:noAutofit/>
          </a:bodyPr>
          <a:lstStyle/>
          <a:p>
            <a:pPr algn="ctr"/>
            <a:endParaRPr lang="ja-JP"/>
          </a:p>
        </p:txBody>
      </p:sp>
      <p:sp>
        <p:nvSpPr>
          <p:cNvPr id="520" name="テキスト ボックス 520"/>
          <p:cNvSpPr txBox="1"/>
          <p:nvPr/>
        </p:nvSpPr>
        <p:spPr>
          <a:xfrm>
            <a:off x="6428232" y="2913507"/>
            <a:ext cx="5029200" cy="713232"/>
          </a:xfrm>
          <a:prstGeom prst="rect">
            <a:avLst/>
          </a:prstGeom>
          <a:noFill/>
        </p:spPr>
        <p:txBody>
          <a:bodyPr wrap="square" lIns="0" tIns="0" rIns="0" bIns="0" rtlCol="0" anchor="ctr">
            <a:noAutofit/>
          </a:bodyPr>
          <a:lstStyle/>
          <a:p>
            <a:pPr algn="l">
              <a:buNone/>
            </a:pPr>
            <a:r>
              <a:rPr kumimoji="1" lang="ja-JP" altLang="en-US" sz="2600" b="1" dirty="0">
                <a:solidFill>
                  <a:srgbClr val="FFFFFF"/>
                </a:solidFill>
                <a:latin typeface="MS PGothic"/>
                <a:ea typeface="MS PGothic"/>
              </a:rPr>
              <a:t>今週</a:t>
            </a:r>
          </a:p>
        </p:txBody>
      </p:sp>
      <p:sp>
        <p:nvSpPr>
          <p:cNvPr id="521" name="テキスト ボックス 521"/>
          <p:cNvSpPr txBox="1"/>
          <p:nvPr/>
        </p:nvSpPr>
        <p:spPr>
          <a:xfrm>
            <a:off x="6473952" y="3827907"/>
            <a:ext cx="310896" cy="493776"/>
          </a:xfrm>
          <a:prstGeom prst="rect">
            <a:avLst/>
          </a:prstGeom>
          <a:noFill/>
        </p:spPr>
        <p:txBody>
          <a:bodyPr wrap="square" lIns="0" tIns="0" rIns="0" bIns="0" rtlCol="0" anchor="ctr">
            <a:noAutofit/>
          </a:bodyPr>
          <a:lstStyle/>
          <a:p>
            <a:pPr algn="l">
              <a:buNone/>
            </a:pPr>
            <a:r>
              <a:rPr kumimoji="1" lang="ja-JP" altLang="en-US" sz="1800" dirty="0">
                <a:solidFill>
                  <a:srgbClr val="203864"/>
                </a:solidFill>
                <a:latin typeface="MS PGothic"/>
                <a:ea typeface="MS PGothic"/>
              </a:rPr>
              <a:t>●</a:t>
            </a:r>
          </a:p>
        </p:txBody>
      </p:sp>
      <p:sp>
        <p:nvSpPr>
          <p:cNvPr id="522" name="テキスト ボックス 522"/>
          <p:cNvSpPr txBox="1"/>
          <p:nvPr/>
        </p:nvSpPr>
        <p:spPr>
          <a:xfrm>
            <a:off x="6784848" y="3827907"/>
            <a:ext cx="4626864" cy="493776"/>
          </a:xfrm>
          <a:prstGeom prst="rect">
            <a:avLst/>
          </a:prstGeom>
          <a:noFill/>
        </p:spPr>
        <p:txBody>
          <a:bodyPr wrap="square" lIns="0" tIns="0" rIns="0" bIns="0" rtlCol="0" anchor="ctr">
            <a:noAutofit/>
          </a:bodyPr>
          <a:lstStyle/>
          <a:p>
            <a:pPr algn="l">
              <a:lnSpc>
                <a:spcPct val="118000"/>
              </a:lnSpc>
              <a:buNone/>
            </a:pPr>
            <a:r>
              <a:rPr kumimoji="1" lang="ja-JP" altLang="en-US" sz="2400" dirty="0">
                <a:solidFill>
                  <a:srgbClr val="17253C"/>
                </a:solidFill>
                <a:latin typeface="MS PGothic"/>
                <a:ea typeface="MS PGothic"/>
              </a:rPr>
              <a:t>ズレが大きい音だけ減点</a:t>
            </a:r>
          </a:p>
        </p:txBody>
      </p:sp>
      <p:sp>
        <p:nvSpPr>
          <p:cNvPr id="523" name="テキスト ボックス 523"/>
          <p:cNvSpPr txBox="1"/>
          <p:nvPr/>
        </p:nvSpPr>
        <p:spPr>
          <a:xfrm>
            <a:off x="6473952" y="4467987"/>
            <a:ext cx="310896" cy="493776"/>
          </a:xfrm>
          <a:prstGeom prst="rect">
            <a:avLst/>
          </a:prstGeom>
          <a:noFill/>
        </p:spPr>
        <p:txBody>
          <a:bodyPr wrap="square" lIns="0" tIns="0" rIns="0" bIns="0" rtlCol="0" anchor="ctr">
            <a:noAutofit/>
          </a:bodyPr>
          <a:lstStyle/>
          <a:p>
            <a:pPr algn="l">
              <a:buNone/>
            </a:pPr>
            <a:r>
              <a:rPr kumimoji="1" lang="ja-JP" altLang="en-US" sz="1800" dirty="0">
                <a:solidFill>
                  <a:srgbClr val="203864"/>
                </a:solidFill>
                <a:latin typeface="MS PGothic"/>
                <a:ea typeface="MS PGothic"/>
              </a:rPr>
              <a:t>●</a:t>
            </a:r>
          </a:p>
        </p:txBody>
      </p:sp>
      <p:sp>
        <p:nvSpPr>
          <p:cNvPr id="524" name="テキスト ボックス 524"/>
          <p:cNvSpPr txBox="1"/>
          <p:nvPr/>
        </p:nvSpPr>
        <p:spPr>
          <a:xfrm>
            <a:off x="6784848" y="4467987"/>
            <a:ext cx="4626864" cy="493776"/>
          </a:xfrm>
          <a:prstGeom prst="rect">
            <a:avLst/>
          </a:prstGeom>
          <a:noFill/>
        </p:spPr>
        <p:txBody>
          <a:bodyPr wrap="square" lIns="0" tIns="0" rIns="0" bIns="0" rtlCol="0" anchor="ctr">
            <a:noAutofit/>
          </a:bodyPr>
          <a:lstStyle/>
          <a:p>
            <a:pPr algn="l">
              <a:lnSpc>
                <a:spcPct val="118000"/>
              </a:lnSpc>
              <a:buNone/>
            </a:pPr>
            <a:r>
              <a:rPr kumimoji="1" lang="ja-JP" altLang="en-US" sz="2400" dirty="0">
                <a:solidFill>
                  <a:srgbClr val="17253C"/>
                </a:solidFill>
                <a:latin typeface="MS PGothic"/>
                <a:ea typeface="MS PGothic"/>
              </a:rPr>
              <a:t>減点は多くても5点</a:t>
            </a:r>
          </a:p>
        </p:txBody>
      </p:sp>
      <p:sp>
        <p:nvSpPr>
          <p:cNvPr id="527" name="テキスト ボックス 527"/>
          <p:cNvSpPr txBox="1"/>
          <p:nvPr/>
        </p:nvSpPr>
        <p:spPr>
          <a:xfrm>
            <a:off x="431673" y="5636895"/>
            <a:ext cx="11471529" cy="822960"/>
          </a:xfrm>
          <a:prstGeom prst="rect">
            <a:avLst/>
          </a:prstGeom>
          <a:noFill/>
        </p:spPr>
        <p:txBody>
          <a:bodyPr wrap="square" lIns="0" tIns="0" rIns="0" bIns="0" rtlCol="0" anchor="ctr">
            <a:noAutofit/>
          </a:bodyPr>
          <a:lstStyle/>
          <a:p>
            <a:pPr algn="l">
              <a:lnSpc>
                <a:spcPct val="118000"/>
              </a:lnSpc>
              <a:buNone/>
            </a:pPr>
            <a:r>
              <a:rPr lang="ja-JP" altLang="en-US" sz="2800" b="1">
                <a:solidFill>
                  <a:srgbClr val="203864"/>
                </a:solidFill>
                <a:latin typeface="MS PGothic"/>
                <a:ea typeface="MS PGothic"/>
              </a:rPr>
              <a:t>＊</a:t>
            </a:r>
            <a:r>
              <a:rPr kumimoji="1" lang="ja-JP" altLang="en-US" sz="2800" b="1">
                <a:solidFill>
                  <a:srgbClr val="203864"/>
                </a:solidFill>
                <a:latin typeface="MS PGothic"/>
                <a:ea typeface="MS PGothic"/>
              </a:rPr>
              <a:t>そろっていても正しい単語を言えた証拠にはならないので、加点はしない</a:t>
            </a:r>
            <a:endParaRPr lang="ja-JP" altLang="en-US" sz="2800" b="1">
              <a:solidFill>
                <a:srgbClr val="203864"/>
              </a:solidFill>
              <a:latin typeface="MS PGothic"/>
              <a:ea typeface="MS P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1" name="図形 701"/>
          <p:cNvSpPr/>
          <p:nvPr/>
        </p:nvSpPr>
        <p:spPr>
          <a:xfrm>
            <a:off x="219456" y="274320"/>
            <a:ext cx="96012" cy="457200"/>
          </a:xfrm>
          <a:prstGeom prst="rect">
            <a:avLst/>
          </a:prstGeom>
          <a:solidFill>
            <a:srgbClr val="203864"/>
          </a:solidFill>
          <a:ln>
            <a:noFill/>
          </a:ln>
        </p:spPr>
        <p:txBody>
          <a:bodyPr wrap="square" lIns="109728" tIns="45720" rIns="109728" bIns="45720" rtlCol="0" anchor="ctr">
            <a:noAutofit/>
          </a:bodyPr>
          <a:lstStyle/>
          <a:p>
            <a:pPr algn="ctr"/>
            <a:endParaRPr lang="ja-JP"/>
          </a:p>
        </p:txBody>
      </p:sp>
      <p:sp>
        <p:nvSpPr>
          <p:cNvPr id="702" name="テキスト ボックス 702"/>
          <p:cNvSpPr txBox="1"/>
          <p:nvPr/>
        </p:nvSpPr>
        <p:spPr>
          <a:xfrm>
            <a:off x="502920" y="79848"/>
            <a:ext cx="9555480" cy="841248"/>
          </a:xfrm>
          <a:prstGeom prst="rect">
            <a:avLst/>
          </a:prstGeom>
          <a:noFill/>
        </p:spPr>
        <p:txBody>
          <a:bodyPr wrap="square" lIns="0" tIns="0" rIns="0" bIns="0" rtlCol="0" anchor="ctr">
            <a:noAutofit/>
          </a:bodyPr>
          <a:lstStyle/>
          <a:p>
            <a:pPr algn="l">
              <a:lnSpc>
                <a:spcPct val="100000"/>
              </a:lnSpc>
              <a:buNone/>
            </a:pPr>
            <a:r>
              <a:rPr kumimoji="1" lang="ja-JP" altLang="en-US" sz="3000" b="1" dirty="0">
                <a:solidFill>
                  <a:srgbClr val="203864"/>
                </a:solidFill>
                <a:latin typeface="MS PGothic"/>
                <a:ea typeface="MS PGothic"/>
              </a:rPr>
              <a:t>どれだけずれたら減点するか</a:t>
            </a:r>
          </a:p>
        </p:txBody>
      </p:sp>
      <p:sp>
        <p:nvSpPr>
          <p:cNvPr id="703" name="スライド番号プレースホルダー 703"/>
          <p:cNvSpPr>
            <a:spLocks noGrp="1"/>
          </p:cNvSpPr>
          <p:nvPr>
            <p:ph type="sldNum" sz="quarter" idx="12"/>
          </p:nvPr>
        </p:nvSpPr>
        <p:spPr/>
        <p:txBody>
          <a:bodyPr/>
          <a:lstStyle/>
          <a:p>
            <a:fld id="{3E6C071F-0D9C-4209-B1B5-FDE6B10623E0}" type="slidenum">
              <a:rPr kumimoji="1" lang="ja-JP" altLang="en-US" smtClean="0"/>
              <a:t>2</a:t>
            </a:fld>
            <a:endParaRPr kumimoji="1" lang="ja-JP" altLang="en-US"/>
          </a:p>
        </p:txBody>
      </p:sp>
      <p:sp>
        <p:nvSpPr>
          <p:cNvPr id="704" name="図形 704"/>
          <p:cNvSpPr/>
          <p:nvPr/>
        </p:nvSpPr>
        <p:spPr>
          <a:xfrm>
            <a:off x="490428" y="1363605"/>
            <a:ext cx="11183112" cy="1060704"/>
          </a:xfrm>
          <a:prstGeom prst="rect">
            <a:avLst/>
          </a:prstGeom>
          <a:solidFill>
            <a:srgbClr val="F3F4F6"/>
          </a:solidFill>
          <a:ln>
            <a:noFill/>
          </a:ln>
        </p:spPr>
        <p:txBody>
          <a:bodyPr wrap="square" lIns="109728" tIns="45720" rIns="109728" bIns="45720" rtlCol="0" anchor="ctr">
            <a:noAutofit/>
          </a:bodyPr>
          <a:lstStyle/>
          <a:p>
            <a:pPr algn="ctr"/>
            <a:endParaRPr lang="ja-JP"/>
          </a:p>
        </p:txBody>
      </p:sp>
      <p:sp>
        <p:nvSpPr>
          <p:cNvPr id="705" name="図形 705"/>
          <p:cNvSpPr/>
          <p:nvPr/>
        </p:nvSpPr>
        <p:spPr>
          <a:xfrm>
            <a:off x="490428" y="1363605"/>
            <a:ext cx="96012" cy="1060704"/>
          </a:xfrm>
          <a:prstGeom prst="rect">
            <a:avLst/>
          </a:prstGeom>
          <a:solidFill>
            <a:srgbClr val="203864"/>
          </a:solidFill>
          <a:ln>
            <a:noFill/>
          </a:ln>
        </p:spPr>
        <p:txBody>
          <a:bodyPr wrap="square" lIns="109728" tIns="45720" rIns="109728" bIns="45720" rtlCol="0" anchor="ctr">
            <a:noAutofit/>
          </a:bodyPr>
          <a:lstStyle/>
          <a:p>
            <a:pPr algn="ctr"/>
            <a:endParaRPr lang="ja-JP"/>
          </a:p>
        </p:txBody>
      </p:sp>
      <p:sp>
        <p:nvSpPr>
          <p:cNvPr id="706" name="テキスト ボックス 706"/>
          <p:cNvSpPr txBox="1"/>
          <p:nvPr/>
        </p:nvSpPr>
        <p:spPr>
          <a:xfrm>
            <a:off x="828756" y="1363605"/>
            <a:ext cx="10661904" cy="1060704"/>
          </a:xfrm>
          <a:prstGeom prst="rect">
            <a:avLst/>
          </a:prstGeom>
          <a:noFill/>
        </p:spPr>
        <p:txBody>
          <a:bodyPr wrap="square" lIns="0" tIns="0" rIns="0" bIns="0" rtlCol="0" anchor="ctr">
            <a:noAutofit/>
          </a:bodyPr>
          <a:lstStyle/>
          <a:p>
            <a:pPr algn="l">
              <a:lnSpc>
                <a:spcPct val="118000"/>
              </a:lnSpc>
              <a:buNone/>
            </a:pPr>
            <a:r>
              <a:rPr kumimoji="1" lang="ja-JP" altLang="en-US" sz="3100" b="1" dirty="0">
                <a:solidFill>
                  <a:srgbClr val="203864"/>
                </a:solidFill>
                <a:latin typeface="MS PGothic"/>
                <a:ea typeface="MS PGothic"/>
              </a:rPr>
              <a:t>人が気づく範囲を超えた音だけ、超えた分を減点する</a:t>
            </a:r>
          </a:p>
        </p:txBody>
      </p:sp>
      <p:sp>
        <p:nvSpPr>
          <p:cNvPr id="711" name="テキスト ボックス 711"/>
          <p:cNvSpPr txBox="1"/>
          <p:nvPr/>
        </p:nvSpPr>
        <p:spPr>
          <a:xfrm>
            <a:off x="502920" y="2911964"/>
            <a:ext cx="2971800" cy="841248"/>
          </a:xfrm>
          <a:prstGeom prst="rect">
            <a:avLst/>
          </a:prstGeom>
          <a:noFill/>
        </p:spPr>
        <p:txBody>
          <a:bodyPr wrap="square" lIns="0" tIns="0" rIns="0" bIns="0" rtlCol="0" anchor="ctr">
            <a:noAutofit/>
          </a:bodyPr>
          <a:lstStyle/>
          <a:p>
            <a:pPr algn="l">
              <a:buNone/>
            </a:pPr>
            <a:r>
              <a:rPr kumimoji="1" lang="ja-JP" altLang="en-US" sz="2400" b="1" dirty="0">
                <a:solidFill>
                  <a:srgbClr val="2E5395"/>
                </a:solidFill>
                <a:latin typeface="MS PGothic"/>
                <a:ea typeface="MS PGothic"/>
              </a:rPr>
              <a:t>声が先</a:t>
            </a:r>
          </a:p>
          <a:p>
            <a:pPr algn="l">
              <a:buNone/>
            </a:pPr>
            <a:r>
              <a:rPr kumimoji="1" lang="ja-JP" altLang="en-US" sz="2400" dirty="0">
                <a:solidFill>
                  <a:srgbClr val="5A6472"/>
                </a:solidFill>
                <a:latin typeface="MS PGothic"/>
                <a:ea typeface="MS PGothic"/>
              </a:rPr>
              <a:t>口より声が早い</a:t>
            </a:r>
          </a:p>
        </p:txBody>
      </p:sp>
      <p:sp>
        <p:nvSpPr>
          <p:cNvPr id="712" name="図形 712"/>
          <p:cNvSpPr/>
          <p:nvPr/>
        </p:nvSpPr>
        <p:spPr>
          <a:xfrm>
            <a:off x="3657600" y="2911964"/>
            <a:ext cx="864108" cy="841248"/>
          </a:xfrm>
          <a:prstGeom prst="rect">
            <a:avLst/>
          </a:prstGeom>
          <a:solidFill>
            <a:srgbClr val="E9F2E9"/>
          </a:solidFill>
          <a:ln w="22225">
            <a:solidFill>
              <a:srgbClr val="2E7D32"/>
            </a:solidFill>
          </a:ln>
        </p:spPr>
        <p:txBody>
          <a:bodyPr wrap="square" lIns="109728" tIns="45720" rIns="109728" bIns="45720" rtlCol="0" anchor="ctr">
            <a:noAutofit/>
          </a:bodyPr>
          <a:lstStyle/>
          <a:p>
            <a:pPr algn="ctr"/>
            <a:endParaRPr lang="ja-JP"/>
          </a:p>
        </p:txBody>
      </p:sp>
      <p:sp>
        <p:nvSpPr>
          <p:cNvPr id="713" name="図形 713"/>
          <p:cNvSpPr/>
          <p:nvPr/>
        </p:nvSpPr>
        <p:spPr>
          <a:xfrm>
            <a:off x="4521708" y="2911964"/>
            <a:ext cx="6816852" cy="841248"/>
          </a:xfrm>
          <a:prstGeom prst="rect">
            <a:avLst/>
          </a:prstGeom>
          <a:solidFill>
            <a:srgbClr val="FBEDED"/>
          </a:solidFill>
          <a:ln w="15875">
            <a:solidFill>
              <a:srgbClr val="C00000"/>
            </a:solidFill>
          </a:ln>
        </p:spPr>
        <p:txBody>
          <a:bodyPr wrap="square" lIns="109728" tIns="45720" rIns="109728" bIns="45720" rtlCol="0" anchor="ctr">
            <a:noAutofit/>
          </a:bodyPr>
          <a:lstStyle/>
          <a:p>
            <a:pPr algn="ctr">
              <a:buNone/>
            </a:pPr>
            <a:r>
              <a:rPr kumimoji="1" lang="ja-JP" altLang="en-US" sz="2400" b="1" dirty="0">
                <a:solidFill>
                  <a:srgbClr val="C00000"/>
                </a:solidFill>
                <a:latin typeface="MS PGothic"/>
                <a:ea typeface="MS PGothic"/>
              </a:rPr>
              <a:t>ずれるほど、大きく減点</a:t>
            </a:r>
          </a:p>
        </p:txBody>
      </p:sp>
      <p:sp>
        <p:nvSpPr>
          <p:cNvPr id="714" name="図形 714"/>
          <p:cNvSpPr/>
          <p:nvPr/>
        </p:nvSpPr>
        <p:spPr>
          <a:xfrm>
            <a:off x="4507992" y="3753212"/>
            <a:ext cx="27432" cy="109728"/>
          </a:xfrm>
          <a:prstGeom prst="rect">
            <a:avLst/>
          </a:prstGeom>
          <a:solidFill>
            <a:srgbClr val="2E7D32"/>
          </a:solidFill>
          <a:ln>
            <a:noFill/>
          </a:ln>
        </p:spPr>
        <p:txBody>
          <a:bodyPr wrap="square" lIns="109728" tIns="45720" rIns="109728" bIns="45720" rtlCol="0" anchor="ctr">
            <a:noAutofit/>
          </a:bodyPr>
          <a:lstStyle/>
          <a:p>
            <a:pPr algn="ctr"/>
            <a:endParaRPr lang="ja-JP"/>
          </a:p>
        </p:txBody>
      </p:sp>
      <p:sp>
        <p:nvSpPr>
          <p:cNvPr id="715" name="テキスト ボックス 715"/>
          <p:cNvSpPr txBox="1"/>
          <p:nvPr/>
        </p:nvSpPr>
        <p:spPr>
          <a:xfrm>
            <a:off x="3515868" y="3862940"/>
            <a:ext cx="2011680" cy="420624"/>
          </a:xfrm>
          <a:prstGeom prst="rect">
            <a:avLst/>
          </a:prstGeom>
          <a:noFill/>
        </p:spPr>
        <p:txBody>
          <a:bodyPr wrap="square" lIns="0" tIns="0" rIns="0" bIns="0" rtlCol="0" anchor="ctr">
            <a:noAutofit/>
          </a:bodyPr>
          <a:lstStyle/>
          <a:p>
            <a:pPr algn="ctr">
              <a:buNone/>
            </a:pPr>
            <a:r>
              <a:rPr kumimoji="1" lang="ja-JP" altLang="en-US" sz="2400" b="1" dirty="0">
                <a:solidFill>
                  <a:srgbClr val="2E7D32"/>
                </a:solidFill>
                <a:latin typeface="MS PGothic"/>
                <a:ea typeface="MS PGothic"/>
              </a:rPr>
              <a:t>4</a:t>
            </a:r>
            <a:r>
              <a:rPr lang="ja-JP" altLang="en-US" sz="2400" b="1">
                <a:solidFill>
                  <a:srgbClr val="2E7D32"/>
                </a:solidFill>
                <a:latin typeface="MS PGothic"/>
                <a:ea typeface="MS PGothic"/>
              </a:rPr>
              <a:t>0</a:t>
            </a:r>
            <a:r>
              <a:rPr kumimoji="1" lang="ja-JP" altLang="en-US" sz="2400" b="1" dirty="0">
                <a:solidFill>
                  <a:srgbClr val="2E7D32"/>
                </a:solidFill>
                <a:latin typeface="MS PGothic"/>
                <a:ea typeface="MS PGothic"/>
              </a:rPr>
              <a:t>ms</a:t>
            </a:r>
          </a:p>
        </p:txBody>
      </p:sp>
      <p:sp>
        <p:nvSpPr>
          <p:cNvPr id="716" name="テキスト ボックス 716"/>
          <p:cNvSpPr txBox="1"/>
          <p:nvPr/>
        </p:nvSpPr>
        <p:spPr>
          <a:xfrm>
            <a:off x="502920" y="4458449"/>
            <a:ext cx="2971800" cy="841248"/>
          </a:xfrm>
          <a:prstGeom prst="rect">
            <a:avLst/>
          </a:prstGeom>
          <a:noFill/>
        </p:spPr>
        <p:txBody>
          <a:bodyPr wrap="square" lIns="0" tIns="0" rIns="0" bIns="0" rtlCol="0" anchor="ctr">
            <a:noAutofit/>
          </a:bodyPr>
          <a:lstStyle/>
          <a:p>
            <a:pPr algn="l">
              <a:buNone/>
            </a:pPr>
            <a:r>
              <a:rPr kumimoji="1" lang="ja-JP" altLang="en-US" sz="2400" b="1" dirty="0">
                <a:solidFill>
                  <a:srgbClr val="B26B2E"/>
                </a:solidFill>
                <a:latin typeface="MS PGothic"/>
                <a:ea typeface="MS PGothic"/>
              </a:rPr>
              <a:t>口が先</a:t>
            </a:r>
          </a:p>
          <a:p>
            <a:pPr algn="l">
              <a:buNone/>
            </a:pPr>
            <a:r>
              <a:rPr kumimoji="1" lang="ja-JP" altLang="en-US" sz="2400" dirty="0">
                <a:solidFill>
                  <a:srgbClr val="5A6472"/>
                </a:solidFill>
                <a:latin typeface="MS PGothic"/>
                <a:ea typeface="MS PGothic"/>
              </a:rPr>
              <a:t>声より口が早い</a:t>
            </a:r>
          </a:p>
        </p:txBody>
      </p:sp>
      <p:sp>
        <p:nvSpPr>
          <p:cNvPr id="717" name="図形 717"/>
          <p:cNvSpPr/>
          <p:nvPr/>
        </p:nvSpPr>
        <p:spPr>
          <a:xfrm>
            <a:off x="3657600" y="4458449"/>
            <a:ext cx="3840480" cy="841248"/>
          </a:xfrm>
          <a:prstGeom prst="rect">
            <a:avLst/>
          </a:prstGeom>
          <a:solidFill>
            <a:srgbClr val="E9F2E9"/>
          </a:solidFill>
          <a:ln w="22225">
            <a:solidFill>
              <a:srgbClr val="2E7D32"/>
            </a:solidFill>
          </a:ln>
        </p:spPr>
        <p:txBody>
          <a:bodyPr wrap="square" lIns="109728" tIns="45720" rIns="109728" bIns="45720" rtlCol="0" anchor="ctr">
            <a:noAutofit/>
          </a:bodyPr>
          <a:lstStyle/>
          <a:p>
            <a:pPr algn="ctr">
              <a:buNone/>
            </a:pPr>
            <a:r>
              <a:rPr kumimoji="1" lang="ja-JP" altLang="en-US" sz="2400" b="1" dirty="0">
                <a:solidFill>
                  <a:srgbClr val="2E7D32"/>
                </a:solidFill>
                <a:latin typeface="MS PGothic"/>
                <a:ea typeface="MS PGothic"/>
              </a:rPr>
              <a:t>減点しない</a:t>
            </a:r>
          </a:p>
        </p:txBody>
      </p:sp>
      <p:sp>
        <p:nvSpPr>
          <p:cNvPr id="718" name="図形 718"/>
          <p:cNvSpPr/>
          <p:nvPr/>
        </p:nvSpPr>
        <p:spPr>
          <a:xfrm>
            <a:off x="7498080" y="4458449"/>
            <a:ext cx="3840480" cy="841248"/>
          </a:xfrm>
          <a:prstGeom prst="rect">
            <a:avLst/>
          </a:prstGeom>
          <a:solidFill>
            <a:srgbClr val="FBEDED"/>
          </a:solidFill>
          <a:ln w="15875">
            <a:solidFill>
              <a:srgbClr val="C00000"/>
            </a:solidFill>
          </a:ln>
        </p:spPr>
        <p:txBody>
          <a:bodyPr wrap="square" lIns="109728" tIns="45720" rIns="109728" bIns="45720" rtlCol="0" anchor="ctr">
            <a:noAutofit/>
          </a:bodyPr>
          <a:lstStyle/>
          <a:p>
            <a:pPr algn="ctr"/>
            <a:endParaRPr lang="ja-JP"/>
          </a:p>
        </p:txBody>
      </p:sp>
      <p:sp>
        <p:nvSpPr>
          <p:cNvPr id="719" name="図形 719"/>
          <p:cNvSpPr/>
          <p:nvPr/>
        </p:nvSpPr>
        <p:spPr>
          <a:xfrm>
            <a:off x="7484364" y="5299697"/>
            <a:ext cx="27432" cy="109728"/>
          </a:xfrm>
          <a:prstGeom prst="rect">
            <a:avLst/>
          </a:prstGeom>
          <a:solidFill>
            <a:srgbClr val="2E7D32"/>
          </a:solidFill>
          <a:ln>
            <a:noFill/>
          </a:ln>
        </p:spPr>
        <p:txBody>
          <a:bodyPr wrap="square" lIns="109728" tIns="45720" rIns="109728" bIns="45720" rtlCol="0" anchor="ctr">
            <a:noAutofit/>
          </a:bodyPr>
          <a:lstStyle/>
          <a:p>
            <a:pPr algn="ctr"/>
            <a:endParaRPr lang="ja-JP"/>
          </a:p>
        </p:txBody>
      </p:sp>
      <p:sp>
        <p:nvSpPr>
          <p:cNvPr id="720" name="テキスト ボックス 720"/>
          <p:cNvSpPr txBox="1"/>
          <p:nvPr/>
        </p:nvSpPr>
        <p:spPr>
          <a:xfrm>
            <a:off x="6492240" y="5409425"/>
            <a:ext cx="2011680" cy="420624"/>
          </a:xfrm>
          <a:prstGeom prst="rect">
            <a:avLst/>
          </a:prstGeom>
          <a:noFill/>
        </p:spPr>
        <p:txBody>
          <a:bodyPr wrap="square" lIns="0" tIns="0" rIns="0" bIns="0" rtlCol="0" anchor="ctr">
            <a:noAutofit/>
          </a:bodyPr>
          <a:lstStyle/>
          <a:p>
            <a:pPr algn="ctr">
              <a:buNone/>
            </a:pPr>
            <a:r>
              <a:rPr kumimoji="1" lang="ja-JP" altLang="en-US" sz="2400" b="1" dirty="0">
                <a:solidFill>
                  <a:srgbClr val="2E7D32"/>
                </a:solidFill>
                <a:latin typeface="MS PGothic"/>
                <a:ea typeface="MS PGothic"/>
              </a:rPr>
              <a:t>200ms</a:t>
            </a:r>
          </a:p>
        </p:txBody>
      </p:sp>
      <p:sp>
        <p:nvSpPr>
          <p:cNvPr id="721" name="テキスト ボックス 721"/>
          <p:cNvSpPr txBox="1"/>
          <p:nvPr/>
        </p:nvSpPr>
        <p:spPr>
          <a:xfrm>
            <a:off x="2889885" y="5409425"/>
            <a:ext cx="2011680" cy="420624"/>
          </a:xfrm>
          <a:prstGeom prst="rect">
            <a:avLst/>
          </a:prstGeom>
          <a:noFill/>
        </p:spPr>
        <p:txBody>
          <a:bodyPr wrap="square" lIns="0" tIns="0" rIns="0" bIns="0" rtlCol="0" anchor="ctr">
            <a:noAutofit/>
          </a:bodyPr>
          <a:lstStyle/>
          <a:p>
            <a:pPr algn="ctr">
              <a:buNone/>
            </a:pPr>
            <a:r>
              <a:rPr kumimoji="1" lang="ja-JP" altLang="en-US" sz="2400" dirty="0">
                <a:solidFill>
                  <a:srgbClr val="5A6472"/>
                </a:solidFill>
                <a:latin typeface="MS PGothic"/>
                <a:ea typeface="MS PGothic"/>
              </a:rPr>
              <a:t>0ms</a:t>
            </a:r>
          </a:p>
        </p:txBody>
      </p:sp>
      <p:sp>
        <p:nvSpPr>
          <p:cNvPr id="722" name="テキスト ボックス 722"/>
          <p:cNvSpPr txBox="1"/>
          <p:nvPr/>
        </p:nvSpPr>
        <p:spPr>
          <a:xfrm>
            <a:off x="9144000" y="5409425"/>
            <a:ext cx="2194560" cy="420624"/>
          </a:xfrm>
          <a:prstGeom prst="rect">
            <a:avLst/>
          </a:prstGeom>
          <a:noFill/>
        </p:spPr>
        <p:txBody>
          <a:bodyPr wrap="square" lIns="0" tIns="0" rIns="0" bIns="0" rtlCol="0" anchor="ctr">
            <a:noAutofit/>
          </a:bodyPr>
          <a:lstStyle/>
          <a:p>
            <a:pPr algn="r">
              <a:buNone/>
            </a:pPr>
            <a:r>
              <a:rPr kumimoji="1" lang="ja-JP" altLang="en-US" sz="2400" dirty="0">
                <a:solidFill>
                  <a:srgbClr val="5A6472"/>
                </a:solidFill>
                <a:latin typeface="MS PGothic"/>
                <a:ea typeface="MS PGothic"/>
              </a:rPr>
              <a:t>400ms</a:t>
            </a:r>
          </a:p>
        </p:txBody>
      </p:sp>
      <p:sp>
        <p:nvSpPr>
          <p:cNvPr id="725" name="テキスト ボックス 725"/>
          <p:cNvSpPr txBox="1"/>
          <p:nvPr/>
        </p:nvSpPr>
        <p:spPr>
          <a:xfrm>
            <a:off x="503970" y="5831624"/>
            <a:ext cx="10661904" cy="859536"/>
          </a:xfrm>
          <a:prstGeom prst="rect">
            <a:avLst/>
          </a:prstGeom>
          <a:noFill/>
        </p:spPr>
        <p:txBody>
          <a:bodyPr wrap="square" lIns="0" tIns="0" rIns="0" bIns="0" rtlCol="0" anchor="ctr">
            <a:noAutofit/>
          </a:bodyPr>
          <a:lstStyle/>
          <a:p>
            <a:pPr algn="l">
              <a:lnSpc>
                <a:spcPct val="118000"/>
              </a:lnSpc>
              <a:buNone/>
            </a:pPr>
            <a:r>
              <a:rPr lang="ja-JP" altLang="en-US" sz="2800" b="1">
                <a:solidFill>
                  <a:srgbClr val="203864"/>
                </a:solidFill>
                <a:latin typeface="MS PGothic"/>
                <a:ea typeface="MS PGothic"/>
              </a:rPr>
              <a:t>＊</a:t>
            </a:r>
            <a:r>
              <a:rPr kumimoji="1" lang="ja-JP" altLang="en-US" sz="2800" b="1">
                <a:solidFill>
                  <a:srgbClr val="203864"/>
                </a:solidFill>
                <a:latin typeface="MS PGothic"/>
                <a:ea typeface="MS PGothic"/>
              </a:rPr>
              <a:t>減点は音ごとに決めて、その平均。多くても5点</a:t>
            </a:r>
            <a:endParaRPr lang="ja-JP" altLang="en-US" sz="2800" b="1">
              <a:solidFill>
                <a:srgbClr val="203864"/>
              </a:solidFill>
              <a:latin typeface="MS PGothic"/>
              <a:ea typeface="MS PGothic"/>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 name="図形 901"/>
          <p:cNvSpPr/>
          <p:nvPr/>
        </p:nvSpPr>
        <p:spPr>
          <a:xfrm>
            <a:off x="219456" y="274320"/>
            <a:ext cx="96012" cy="457200"/>
          </a:xfrm>
          <a:prstGeom prst="rect">
            <a:avLst/>
          </a:prstGeom>
          <a:solidFill>
            <a:srgbClr val="203864"/>
          </a:solidFill>
          <a:ln>
            <a:noFill/>
          </a:ln>
        </p:spPr>
        <p:txBody>
          <a:bodyPr wrap="square" lIns="109728" tIns="45720" rIns="109728" bIns="45720" rtlCol="0" anchor="ctr">
            <a:noAutofit/>
          </a:bodyPr>
          <a:lstStyle/>
          <a:p>
            <a:pPr algn="ctr"/>
            <a:endParaRPr lang="ja-JP"/>
          </a:p>
        </p:txBody>
      </p:sp>
      <p:sp>
        <p:nvSpPr>
          <p:cNvPr id="902" name="テキスト ボックス 902"/>
          <p:cNvSpPr txBox="1"/>
          <p:nvPr/>
        </p:nvSpPr>
        <p:spPr>
          <a:xfrm>
            <a:off x="502920" y="79848"/>
            <a:ext cx="9555480" cy="841248"/>
          </a:xfrm>
          <a:prstGeom prst="rect">
            <a:avLst/>
          </a:prstGeom>
          <a:noFill/>
        </p:spPr>
        <p:txBody>
          <a:bodyPr wrap="square" lIns="0" tIns="0" rIns="0" bIns="0" rtlCol="0" anchor="ctr">
            <a:noAutofit/>
          </a:bodyPr>
          <a:lstStyle/>
          <a:p>
            <a:pPr algn="l">
              <a:lnSpc>
                <a:spcPct val="100000"/>
              </a:lnSpc>
              <a:buNone/>
            </a:pPr>
            <a:r>
              <a:rPr kumimoji="1" lang="ja-JP" altLang="en-US" sz="3000" b="1" dirty="0">
                <a:solidFill>
                  <a:srgbClr val="203864"/>
                </a:solidFill>
                <a:latin typeface="MS PGothic"/>
                <a:ea typeface="MS PGothic"/>
              </a:rPr>
              <a:t>4</a:t>
            </a:r>
            <a:r>
              <a:rPr lang="ja-JP" altLang="en-US" sz="3000" b="1">
                <a:solidFill>
                  <a:srgbClr val="203864"/>
                </a:solidFill>
                <a:latin typeface="MS PGothic"/>
                <a:ea typeface="MS PGothic"/>
              </a:rPr>
              <a:t>0</a:t>
            </a:r>
            <a:r>
              <a:rPr kumimoji="1" lang="ja-JP" altLang="en-US" sz="3000" b="1" dirty="0">
                <a:solidFill>
                  <a:srgbClr val="203864"/>
                </a:solidFill>
                <a:latin typeface="MS PGothic"/>
                <a:ea typeface="MS PGothic"/>
              </a:rPr>
              <a:t>・200・400ミリ秒の根拠</a:t>
            </a:r>
          </a:p>
        </p:txBody>
      </p:sp>
      <p:sp>
        <p:nvSpPr>
          <p:cNvPr id="903" name="スライド番号プレースホルダー 903"/>
          <p:cNvSpPr>
            <a:spLocks noGrp="1"/>
          </p:cNvSpPr>
          <p:nvPr>
            <p:ph type="sldNum" sz="quarter" idx="12"/>
          </p:nvPr>
        </p:nvSpPr>
        <p:spPr/>
        <p:txBody>
          <a:bodyPr/>
          <a:lstStyle/>
          <a:p>
            <a:fld id="{3E6C071F-0D9C-4209-B1B5-FDE6B10623E0}" type="slidenum">
              <a:rPr kumimoji="1" lang="ja-JP" altLang="en-US" smtClean="0"/>
              <a:t>3</a:t>
            </a:fld>
            <a:endParaRPr kumimoji="1" lang="ja-JP" altLang="en-US"/>
          </a:p>
        </p:txBody>
      </p:sp>
      <p:sp>
        <p:nvSpPr>
          <p:cNvPr id="904" name="図形 904"/>
          <p:cNvSpPr/>
          <p:nvPr/>
        </p:nvSpPr>
        <p:spPr>
          <a:xfrm>
            <a:off x="502920" y="1188720"/>
            <a:ext cx="11183112" cy="1060704"/>
          </a:xfrm>
          <a:prstGeom prst="rect">
            <a:avLst/>
          </a:prstGeom>
          <a:solidFill>
            <a:srgbClr val="F3F4F6"/>
          </a:solidFill>
          <a:ln>
            <a:noFill/>
          </a:ln>
        </p:spPr>
        <p:txBody>
          <a:bodyPr wrap="square" lIns="109728" tIns="45720" rIns="109728" bIns="45720" rtlCol="0" anchor="ctr">
            <a:noAutofit/>
          </a:bodyPr>
          <a:lstStyle/>
          <a:p>
            <a:pPr algn="ctr"/>
            <a:endParaRPr lang="ja-JP"/>
          </a:p>
        </p:txBody>
      </p:sp>
      <p:sp>
        <p:nvSpPr>
          <p:cNvPr id="905" name="図形 905"/>
          <p:cNvSpPr/>
          <p:nvPr/>
        </p:nvSpPr>
        <p:spPr>
          <a:xfrm>
            <a:off x="502920" y="1188720"/>
            <a:ext cx="96012" cy="1060704"/>
          </a:xfrm>
          <a:prstGeom prst="rect">
            <a:avLst/>
          </a:prstGeom>
          <a:solidFill>
            <a:srgbClr val="203864"/>
          </a:solidFill>
          <a:ln>
            <a:noFill/>
          </a:ln>
        </p:spPr>
        <p:txBody>
          <a:bodyPr wrap="square" lIns="109728" tIns="45720" rIns="109728" bIns="45720" rtlCol="0" anchor="ctr">
            <a:noAutofit/>
          </a:bodyPr>
          <a:lstStyle/>
          <a:p>
            <a:pPr algn="ctr"/>
            <a:endParaRPr lang="ja-JP"/>
          </a:p>
        </p:txBody>
      </p:sp>
      <p:sp>
        <p:nvSpPr>
          <p:cNvPr id="906" name="テキスト ボックス 906"/>
          <p:cNvSpPr txBox="1"/>
          <p:nvPr/>
        </p:nvSpPr>
        <p:spPr>
          <a:xfrm>
            <a:off x="841248" y="1188720"/>
            <a:ext cx="10661904" cy="1060704"/>
          </a:xfrm>
          <a:prstGeom prst="rect">
            <a:avLst/>
          </a:prstGeom>
          <a:noFill/>
        </p:spPr>
        <p:txBody>
          <a:bodyPr wrap="square" lIns="0" tIns="0" rIns="0" bIns="0" rtlCol="0" anchor="ctr">
            <a:noAutofit/>
          </a:bodyPr>
          <a:lstStyle/>
          <a:p>
            <a:pPr algn="l">
              <a:lnSpc>
                <a:spcPct val="118000"/>
              </a:lnSpc>
              <a:buNone/>
            </a:pPr>
            <a:r>
              <a:rPr kumimoji="1" lang="ja-JP" altLang="en-US" sz="3100" b="1" dirty="0">
                <a:solidFill>
                  <a:srgbClr val="203864"/>
                </a:solidFill>
                <a:latin typeface="MS PGothic"/>
                <a:ea typeface="MS PGothic"/>
              </a:rPr>
              <a:t>3つのしきい値は文献の値、上限5点だけは私たちの判断</a:t>
            </a:r>
          </a:p>
        </p:txBody>
      </p:sp>
      <p:sp>
        <p:nvSpPr>
          <p:cNvPr id="911" name="図形 911"/>
          <p:cNvSpPr/>
          <p:nvPr/>
        </p:nvSpPr>
        <p:spPr>
          <a:xfrm>
            <a:off x="502920" y="2468880"/>
            <a:ext cx="2743200" cy="731520"/>
          </a:xfrm>
          <a:prstGeom prst="roundRect">
            <a:avLst>
              <a:gd name="adj" fmla="val 17500"/>
            </a:avLst>
          </a:prstGeom>
          <a:solidFill>
            <a:srgbClr val="2E5395"/>
          </a:solidFill>
          <a:ln>
            <a:noFill/>
          </a:ln>
        </p:spPr>
        <p:txBody>
          <a:bodyPr wrap="square" lIns="109728" tIns="45720" rIns="109728" bIns="45720" rtlCol="0" anchor="ctr">
            <a:noAutofit/>
          </a:bodyPr>
          <a:lstStyle/>
          <a:p>
            <a:pPr algn="ctr">
              <a:buNone/>
            </a:pPr>
            <a:r>
              <a:rPr kumimoji="1" lang="ja-JP" altLang="en-US" sz="2400" b="1">
                <a:solidFill>
                  <a:srgbClr val="FFFFFF"/>
                </a:solidFill>
                <a:latin typeface="MS PGothic"/>
                <a:ea typeface="MS PGothic"/>
              </a:rPr>
              <a:t>声が先 4</a:t>
            </a:r>
            <a:r>
              <a:rPr lang="ja-JP" altLang="en-US" sz="2400" b="1">
                <a:solidFill>
                  <a:srgbClr val="FFFFFF"/>
                </a:solidFill>
                <a:latin typeface="MS PGothic"/>
                <a:ea typeface="MS PGothic"/>
              </a:rPr>
              <a:t>0</a:t>
            </a:r>
            <a:r>
              <a:rPr kumimoji="1" lang="ja-JP" altLang="en-US" sz="2400" b="1">
                <a:solidFill>
                  <a:srgbClr val="FFFFFF"/>
                </a:solidFill>
                <a:latin typeface="MS PGothic"/>
                <a:ea typeface="MS PGothic"/>
              </a:rPr>
              <a:t>ms</a:t>
            </a:r>
          </a:p>
        </p:txBody>
      </p:sp>
      <p:sp>
        <p:nvSpPr>
          <p:cNvPr id="912" name="テキスト ボックス 912"/>
          <p:cNvSpPr txBox="1"/>
          <p:nvPr/>
        </p:nvSpPr>
        <p:spPr>
          <a:xfrm>
            <a:off x="3611880" y="2468880"/>
            <a:ext cx="8074152" cy="731520"/>
          </a:xfrm>
          <a:prstGeom prst="rect">
            <a:avLst/>
          </a:prstGeom>
          <a:noFill/>
        </p:spPr>
        <p:txBody>
          <a:bodyPr wrap="square" lIns="0" tIns="0" rIns="0" bIns="0" rtlCol="0" anchor="ctr">
            <a:noAutofit/>
          </a:bodyPr>
          <a:lstStyle/>
          <a:p>
            <a:pPr algn="l">
              <a:lnSpc>
                <a:spcPct val="118000"/>
              </a:lnSpc>
              <a:buNone/>
            </a:pPr>
            <a:r>
              <a:rPr kumimoji="1" lang="ja-JP" altLang="en-US" sz="2400" dirty="0">
                <a:solidFill>
                  <a:srgbClr val="17253C"/>
                </a:solidFill>
                <a:latin typeface="MS PGothic"/>
                <a:ea typeface="MS PGothic"/>
              </a:rPr>
              <a:t>人がずれに気づきはじめる</a:t>
            </a:r>
          </a:p>
        </p:txBody>
      </p:sp>
      <p:sp>
        <p:nvSpPr>
          <p:cNvPr id="913" name="図形 913"/>
          <p:cNvSpPr/>
          <p:nvPr/>
        </p:nvSpPr>
        <p:spPr>
          <a:xfrm>
            <a:off x="502920" y="3291840"/>
            <a:ext cx="2743200" cy="731520"/>
          </a:xfrm>
          <a:prstGeom prst="roundRect">
            <a:avLst>
              <a:gd name="adj" fmla="val 17500"/>
            </a:avLst>
          </a:prstGeom>
          <a:solidFill>
            <a:srgbClr val="B26B2E"/>
          </a:solidFill>
          <a:ln>
            <a:noFill/>
          </a:ln>
        </p:spPr>
        <p:txBody>
          <a:bodyPr wrap="square" lIns="109728" tIns="45720" rIns="109728" bIns="45720" rtlCol="0" anchor="ctr">
            <a:noAutofit/>
          </a:bodyPr>
          <a:lstStyle/>
          <a:p>
            <a:pPr algn="ctr">
              <a:buNone/>
            </a:pPr>
            <a:r>
              <a:rPr kumimoji="1" lang="ja-JP" altLang="en-US" sz="2400" b="1" dirty="0">
                <a:solidFill>
                  <a:srgbClr val="FFFFFF"/>
                </a:solidFill>
                <a:latin typeface="MS PGothic"/>
                <a:ea typeface="MS PGothic"/>
              </a:rPr>
              <a:t>口が先 200ms</a:t>
            </a:r>
          </a:p>
        </p:txBody>
      </p:sp>
      <p:sp>
        <p:nvSpPr>
          <p:cNvPr id="914" name="テキスト ボックス 914"/>
          <p:cNvSpPr txBox="1"/>
          <p:nvPr/>
        </p:nvSpPr>
        <p:spPr>
          <a:xfrm>
            <a:off x="3611880" y="3291840"/>
            <a:ext cx="8074152" cy="731520"/>
          </a:xfrm>
          <a:prstGeom prst="rect">
            <a:avLst/>
          </a:prstGeom>
          <a:noFill/>
        </p:spPr>
        <p:txBody>
          <a:bodyPr wrap="square" lIns="0" tIns="0" rIns="0" bIns="0" rtlCol="0" anchor="ctr">
            <a:noAutofit/>
          </a:bodyPr>
          <a:lstStyle/>
          <a:p>
            <a:pPr algn="l">
              <a:lnSpc>
                <a:spcPct val="118000"/>
              </a:lnSpc>
              <a:buNone/>
            </a:pPr>
            <a:r>
              <a:rPr kumimoji="1" lang="ja-JP" altLang="en-US" sz="2400" dirty="0">
                <a:solidFill>
                  <a:srgbClr val="17253C"/>
                </a:solidFill>
                <a:latin typeface="MS PGothic"/>
                <a:ea typeface="MS PGothic"/>
              </a:rPr>
              <a:t>聞き取りが下がりはじめる（口が先には寛容）</a:t>
            </a:r>
          </a:p>
        </p:txBody>
      </p:sp>
      <p:sp>
        <p:nvSpPr>
          <p:cNvPr id="915" name="図形 915"/>
          <p:cNvSpPr/>
          <p:nvPr/>
        </p:nvSpPr>
        <p:spPr>
          <a:xfrm>
            <a:off x="502920" y="4114800"/>
            <a:ext cx="2743200" cy="731520"/>
          </a:xfrm>
          <a:prstGeom prst="roundRect">
            <a:avLst>
              <a:gd name="adj" fmla="val 17500"/>
            </a:avLst>
          </a:prstGeom>
          <a:solidFill>
            <a:srgbClr val="C00000"/>
          </a:solidFill>
          <a:ln>
            <a:noFill/>
          </a:ln>
        </p:spPr>
        <p:txBody>
          <a:bodyPr wrap="square" lIns="109728" tIns="45720" rIns="109728" bIns="45720" rtlCol="0" anchor="ctr">
            <a:noAutofit/>
          </a:bodyPr>
          <a:lstStyle/>
          <a:p>
            <a:pPr algn="ctr">
              <a:buNone/>
            </a:pPr>
            <a:r>
              <a:rPr kumimoji="1" lang="ja-JP" altLang="en-US" sz="2400" b="1" dirty="0">
                <a:solidFill>
                  <a:srgbClr val="FFFFFF"/>
                </a:solidFill>
                <a:latin typeface="MS PGothic"/>
                <a:ea typeface="MS PGothic"/>
              </a:rPr>
              <a:t>400ms</a:t>
            </a:r>
          </a:p>
        </p:txBody>
      </p:sp>
      <p:sp>
        <p:nvSpPr>
          <p:cNvPr id="916" name="テキスト ボックス 916"/>
          <p:cNvSpPr txBox="1"/>
          <p:nvPr/>
        </p:nvSpPr>
        <p:spPr>
          <a:xfrm>
            <a:off x="3611880" y="4114800"/>
            <a:ext cx="8074152" cy="731520"/>
          </a:xfrm>
          <a:prstGeom prst="rect">
            <a:avLst/>
          </a:prstGeom>
          <a:noFill/>
        </p:spPr>
        <p:txBody>
          <a:bodyPr wrap="square" lIns="0" tIns="0" rIns="0" bIns="0" rtlCol="0" anchor="ctr">
            <a:noAutofit/>
          </a:bodyPr>
          <a:lstStyle/>
          <a:p>
            <a:pPr algn="l">
              <a:lnSpc>
                <a:spcPct val="118000"/>
              </a:lnSpc>
              <a:buNone/>
            </a:pPr>
            <a:r>
              <a:rPr kumimoji="1" lang="ja-JP" altLang="en-US" sz="2400" dirty="0">
                <a:solidFill>
                  <a:srgbClr val="17253C"/>
                </a:solidFill>
                <a:latin typeface="MS PGothic"/>
                <a:ea typeface="MS PGothic"/>
              </a:rPr>
              <a:t>口が見えることの利点が、ほぼ全部なくなる</a:t>
            </a:r>
          </a:p>
        </p:txBody>
      </p:sp>
      <p:sp>
        <p:nvSpPr>
          <p:cNvPr id="917" name="図形 917"/>
          <p:cNvSpPr/>
          <p:nvPr/>
        </p:nvSpPr>
        <p:spPr>
          <a:xfrm>
            <a:off x="502920" y="4937760"/>
            <a:ext cx="2743200" cy="731520"/>
          </a:xfrm>
          <a:prstGeom prst="roundRect">
            <a:avLst>
              <a:gd name="adj" fmla="val 17500"/>
            </a:avLst>
          </a:prstGeom>
          <a:solidFill>
            <a:srgbClr val="5A6472"/>
          </a:solidFill>
          <a:ln>
            <a:noFill/>
          </a:ln>
        </p:spPr>
        <p:txBody>
          <a:bodyPr wrap="square" lIns="109728" tIns="45720" rIns="109728" bIns="45720" rtlCol="0" anchor="ctr">
            <a:noAutofit/>
          </a:bodyPr>
          <a:lstStyle/>
          <a:p>
            <a:pPr algn="ctr">
              <a:buNone/>
            </a:pPr>
            <a:r>
              <a:rPr kumimoji="1" lang="ja-JP" altLang="en-US" sz="2400" b="1" dirty="0">
                <a:solidFill>
                  <a:srgbClr val="FFFFFF"/>
                </a:solidFill>
                <a:latin typeface="MS PGothic"/>
                <a:ea typeface="MS PGothic"/>
              </a:rPr>
              <a:t>上限 5点</a:t>
            </a:r>
          </a:p>
        </p:txBody>
      </p:sp>
      <p:sp>
        <p:nvSpPr>
          <p:cNvPr id="918" name="テキスト ボックス 918"/>
          <p:cNvSpPr txBox="1"/>
          <p:nvPr/>
        </p:nvSpPr>
        <p:spPr>
          <a:xfrm>
            <a:off x="3611880" y="4937760"/>
            <a:ext cx="8074152" cy="731520"/>
          </a:xfrm>
          <a:prstGeom prst="rect">
            <a:avLst/>
          </a:prstGeom>
          <a:noFill/>
        </p:spPr>
        <p:txBody>
          <a:bodyPr wrap="square" lIns="0" tIns="0" rIns="0" bIns="0" rtlCol="0" anchor="ctr">
            <a:noAutofit/>
          </a:bodyPr>
          <a:lstStyle/>
          <a:p>
            <a:pPr algn="l">
              <a:lnSpc>
                <a:spcPct val="118000"/>
              </a:lnSpc>
              <a:buNone/>
            </a:pPr>
            <a:r>
              <a:rPr kumimoji="1" lang="ja-JP" altLang="en-US" sz="2400" dirty="0">
                <a:solidFill>
                  <a:srgbClr val="17253C"/>
                </a:solidFill>
                <a:latin typeface="MS PGothic"/>
                <a:ea typeface="MS PGothic"/>
              </a:rPr>
              <a:t>厳しくしすぎない方針</a:t>
            </a:r>
          </a:p>
        </p:txBody>
      </p:sp>
      <p:sp>
        <p:nvSpPr>
          <p:cNvPr id="919" name="図形 919"/>
          <p:cNvSpPr/>
          <p:nvPr/>
        </p:nvSpPr>
        <p:spPr>
          <a:xfrm>
            <a:off x="502920" y="4846320"/>
            <a:ext cx="11183112" cy="13716"/>
          </a:xfrm>
          <a:prstGeom prst="rect">
            <a:avLst/>
          </a:prstGeom>
          <a:solidFill>
            <a:srgbClr val="D5DCE6"/>
          </a:solidFill>
          <a:ln>
            <a:noFill/>
          </a:ln>
        </p:spPr>
        <p:txBody>
          <a:bodyPr wrap="square" lIns="109728" tIns="45720" rIns="109728" bIns="45720" rtlCol="0" anchor="ctr">
            <a:noAutofit/>
          </a:bodyPr>
          <a:lstStyle/>
          <a:p>
            <a:pPr algn="ctr"/>
            <a:endParaRPr lang="ja-JP"/>
          </a:p>
        </p:txBody>
      </p:sp>
      <p:sp>
        <p:nvSpPr>
          <p:cNvPr id="920" name="テキスト ボックス 920"/>
          <p:cNvSpPr txBox="1"/>
          <p:nvPr/>
        </p:nvSpPr>
        <p:spPr>
          <a:xfrm>
            <a:off x="502920" y="5852160"/>
            <a:ext cx="11183112" cy="822960"/>
          </a:xfrm>
          <a:prstGeom prst="rect">
            <a:avLst/>
          </a:prstGeom>
          <a:noFill/>
        </p:spPr>
        <p:txBody>
          <a:bodyPr wrap="square" lIns="0" tIns="0" rIns="0" bIns="0" rtlCol="0" anchor="ctr">
            <a:noAutofit/>
          </a:bodyPr>
          <a:lstStyle/>
          <a:p>
            <a:pPr marL="640080" indent="-640080" algn="l">
              <a:lnSpc>
                <a:spcPct val="112000"/>
              </a:lnSpc>
              <a:buNone/>
            </a:pPr>
            <a:r>
              <a:rPr kumimoji="1" lang="ja-JP" altLang="en-US" sz="1600" b="1">
                <a:solidFill>
                  <a:srgbClr val="17253C"/>
                </a:solidFill>
                <a:latin typeface="MS PGothic"/>
                <a:ea typeface="MS PGothic"/>
              </a:rPr>
              <a:t>4</a:t>
            </a:r>
            <a:r>
              <a:rPr lang="ja-JP" altLang="en-US" sz="1600" b="1">
                <a:solidFill>
                  <a:srgbClr val="17253C"/>
                </a:solidFill>
                <a:latin typeface="MS PGothic"/>
                <a:ea typeface="MS PGothic"/>
              </a:rPr>
              <a:t>0</a:t>
            </a:r>
            <a:r>
              <a:rPr kumimoji="1" lang="ja-JP" altLang="en-US" sz="1600" b="1">
                <a:solidFill>
                  <a:srgbClr val="17253C"/>
                </a:solidFill>
                <a:latin typeface="MS PGothic"/>
                <a:ea typeface="MS PGothic"/>
              </a:rPr>
              <a:t>ms　</a:t>
            </a:r>
            <a:r>
              <a:rPr kumimoji="1" lang="ja-JP" altLang="en-US" sz="1600">
                <a:solidFill>
                  <a:srgbClr val="5A6472"/>
                </a:solidFill>
                <a:latin typeface="MS PGothic"/>
                <a:ea typeface="MS PGothic"/>
              </a:rPr>
              <a:t>Grant, van Wassenhove &amp; Poeppel (2003) AVSP 2003／ITU-R BT.1359-1 (1998) 検知限 +4</a:t>
            </a:r>
            <a:r>
              <a:rPr lang="ja-JP" altLang="en-US" sz="1600">
                <a:solidFill>
                  <a:srgbClr val="5A6472"/>
                </a:solidFill>
                <a:latin typeface="MS PGothic"/>
                <a:ea typeface="MS PGothic"/>
              </a:rPr>
              <a:t>0</a:t>
            </a:r>
            <a:r>
              <a:rPr kumimoji="1" lang="ja-JP" altLang="en-US" sz="1600">
                <a:solidFill>
                  <a:srgbClr val="5A6472"/>
                </a:solidFill>
                <a:latin typeface="MS PGothic"/>
                <a:ea typeface="MS PGothic"/>
              </a:rPr>
              <a:t>ms</a:t>
            </a:r>
          </a:p>
          <a:p>
            <a:pPr marL="640080" indent="-640080" algn="l">
              <a:lnSpc>
                <a:spcPct val="112000"/>
              </a:lnSpc>
              <a:buNone/>
            </a:pPr>
            <a:r>
              <a:rPr kumimoji="1" lang="ja-JP" altLang="en-US" sz="1600" b="1" dirty="0">
                <a:solidFill>
                  <a:srgbClr val="17253C"/>
                </a:solidFill>
                <a:latin typeface="MS PGothic"/>
                <a:ea typeface="MS PGothic"/>
              </a:rPr>
              <a:t>200ms　</a:t>
            </a:r>
            <a:r>
              <a:rPr kumimoji="1" lang="ja-JP" altLang="en-US" sz="1600" dirty="0">
                <a:solidFill>
                  <a:srgbClr val="5A6472"/>
                </a:solidFill>
                <a:latin typeface="MS PGothic"/>
                <a:ea typeface="MS PGothic"/>
              </a:rPr>
              <a:t>Grant ほか (2003)／Grant &amp; Greenberg (2001) AVSP 2001／van Wassenhove ほか (2007)</a:t>
            </a:r>
          </a:p>
          <a:p>
            <a:pPr marL="640080" indent="-640080" algn="l">
              <a:lnSpc>
                <a:spcPct val="112000"/>
              </a:lnSpc>
              <a:buNone/>
            </a:pPr>
            <a:r>
              <a:rPr kumimoji="1" lang="ja-JP" altLang="en-US" sz="1600" b="1" dirty="0">
                <a:solidFill>
                  <a:srgbClr val="17253C"/>
                </a:solidFill>
                <a:latin typeface="MS PGothic"/>
                <a:ea typeface="MS PGothic"/>
              </a:rPr>
              <a:t>400ms　</a:t>
            </a:r>
            <a:r>
              <a:rPr kumimoji="1" lang="ja-JP" altLang="en-US" sz="1600" dirty="0">
                <a:solidFill>
                  <a:srgbClr val="5A6472"/>
                </a:solidFill>
                <a:latin typeface="MS PGothic"/>
                <a:ea typeface="MS PGothic"/>
              </a:rPr>
              <a:t>Grant &amp; Greenberg (2001) AVSP 2001, 132–137 の表1</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1" name="図形 1101"/>
          <p:cNvSpPr/>
          <p:nvPr/>
        </p:nvSpPr>
        <p:spPr>
          <a:xfrm>
            <a:off x="219456" y="274320"/>
            <a:ext cx="96012" cy="457200"/>
          </a:xfrm>
          <a:prstGeom prst="rect">
            <a:avLst/>
          </a:prstGeom>
          <a:solidFill>
            <a:srgbClr val="203864"/>
          </a:solidFill>
          <a:ln>
            <a:noFill/>
          </a:ln>
        </p:spPr>
        <p:txBody>
          <a:bodyPr wrap="square" lIns="109728" tIns="45720" rIns="109728" bIns="45720" rtlCol="0" anchor="ctr">
            <a:noAutofit/>
          </a:bodyPr>
          <a:lstStyle/>
          <a:p>
            <a:pPr algn="ctr"/>
            <a:endParaRPr lang="ja-JP"/>
          </a:p>
        </p:txBody>
      </p:sp>
      <p:sp>
        <p:nvSpPr>
          <p:cNvPr id="1102" name="テキスト ボックス 1102"/>
          <p:cNvSpPr txBox="1"/>
          <p:nvPr/>
        </p:nvSpPr>
        <p:spPr>
          <a:xfrm>
            <a:off x="502920" y="83439"/>
            <a:ext cx="9555480" cy="841248"/>
          </a:xfrm>
          <a:prstGeom prst="rect">
            <a:avLst/>
          </a:prstGeom>
          <a:noFill/>
        </p:spPr>
        <p:txBody>
          <a:bodyPr wrap="square" lIns="0" tIns="0" rIns="0" bIns="0" rtlCol="0" anchor="ctr">
            <a:noAutofit/>
          </a:bodyPr>
          <a:lstStyle/>
          <a:p>
            <a:pPr algn="l">
              <a:lnSpc>
                <a:spcPct val="100000"/>
              </a:lnSpc>
              <a:buNone/>
            </a:pPr>
            <a:r>
              <a:rPr kumimoji="1" lang="ja-JP" altLang="en-US" sz="3000" b="1" dirty="0">
                <a:solidFill>
                  <a:srgbClr val="203864"/>
                </a:solidFill>
                <a:latin typeface="MS PGothic"/>
                <a:ea typeface="MS PGothic"/>
              </a:rPr>
              <a:t>来週以降にやること</a:t>
            </a:r>
          </a:p>
        </p:txBody>
      </p:sp>
      <p:sp>
        <p:nvSpPr>
          <p:cNvPr id="1103" name="スライド番号プレースホルダー 1103"/>
          <p:cNvSpPr>
            <a:spLocks noGrp="1"/>
          </p:cNvSpPr>
          <p:nvPr>
            <p:ph type="sldNum" sz="quarter" idx="12"/>
          </p:nvPr>
        </p:nvSpPr>
        <p:spPr/>
        <p:txBody>
          <a:bodyPr/>
          <a:lstStyle/>
          <a:p>
            <a:fld id="{3E6C071F-0D9C-4209-B1B5-FDE6B10623E0}" type="slidenum">
              <a:rPr kumimoji="1" lang="ja-JP" altLang="en-US" smtClean="0"/>
              <a:t>4</a:t>
            </a:fld>
            <a:endParaRPr kumimoji="1" lang="ja-JP" altLang="en-US"/>
          </a:p>
        </p:txBody>
      </p:sp>
      <p:sp>
        <p:nvSpPr>
          <p:cNvPr id="1104" name="図形 1104"/>
          <p:cNvSpPr/>
          <p:nvPr/>
        </p:nvSpPr>
        <p:spPr>
          <a:xfrm>
            <a:off x="502920" y="1684020"/>
            <a:ext cx="11183112" cy="1060704"/>
          </a:xfrm>
          <a:prstGeom prst="rect">
            <a:avLst/>
          </a:prstGeom>
          <a:solidFill>
            <a:srgbClr val="F3F4F6"/>
          </a:solidFill>
          <a:ln>
            <a:noFill/>
          </a:ln>
        </p:spPr>
        <p:txBody>
          <a:bodyPr wrap="square" lIns="109728" tIns="45720" rIns="109728" bIns="45720" rtlCol="0" anchor="ctr">
            <a:noAutofit/>
          </a:bodyPr>
          <a:lstStyle/>
          <a:p>
            <a:pPr algn="ctr"/>
            <a:endParaRPr lang="ja-JP"/>
          </a:p>
        </p:txBody>
      </p:sp>
      <p:sp>
        <p:nvSpPr>
          <p:cNvPr id="1105" name="図形 1105"/>
          <p:cNvSpPr/>
          <p:nvPr/>
        </p:nvSpPr>
        <p:spPr>
          <a:xfrm>
            <a:off x="502920" y="1684020"/>
            <a:ext cx="96012" cy="1060704"/>
          </a:xfrm>
          <a:prstGeom prst="rect">
            <a:avLst/>
          </a:prstGeom>
          <a:solidFill>
            <a:srgbClr val="203864"/>
          </a:solidFill>
          <a:ln>
            <a:noFill/>
          </a:ln>
        </p:spPr>
        <p:txBody>
          <a:bodyPr wrap="square" lIns="109728" tIns="45720" rIns="109728" bIns="45720" rtlCol="0" anchor="ctr">
            <a:noAutofit/>
          </a:bodyPr>
          <a:lstStyle/>
          <a:p>
            <a:pPr algn="ctr"/>
            <a:endParaRPr lang="ja-JP"/>
          </a:p>
        </p:txBody>
      </p:sp>
      <p:sp>
        <p:nvSpPr>
          <p:cNvPr id="1106" name="テキスト ボックス 1106"/>
          <p:cNvSpPr txBox="1"/>
          <p:nvPr/>
        </p:nvSpPr>
        <p:spPr>
          <a:xfrm>
            <a:off x="841248" y="1684020"/>
            <a:ext cx="10661904" cy="1060704"/>
          </a:xfrm>
          <a:prstGeom prst="rect">
            <a:avLst/>
          </a:prstGeom>
          <a:noFill/>
        </p:spPr>
        <p:txBody>
          <a:bodyPr wrap="square" lIns="0" tIns="0" rIns="0" bIns="0" rtlCol="0" anchor="ctr">
            <a:noAutofit/>
          </a:bodyPr>
          <a:lstStyle/>
          <a:p>
            <a:pPr algn="l">
              <a:lnSpc>
                <a:spcPct val="118000"/>
              </a:lnSpc>
              <a:buNone/>
            </a:pPr>
            <a:r>
              <a:rPr kumimoji="1" lang="ja-JP" altLang="en-US" sz="3100" b="1" dirty="0">
                <a:solidFill>
                  <a:srgbClr val="203864"/>
                </a:solidFill>
                <a:latin typeface="MS PGothic"/>
                <a:ea typeface="MS PGothic"/>
              </a:rPr>
              <a:t>調査に必要な書類を、先に作っておく</a:t>
            </a:r>
          </a:p>
        </p:txBody>
      </p:sp>
      <p:sp>
        <p:nvSpPr>
          <p:cNvPr id="1111" name="図形 1111"/>
          <p:cNvSpPr/>
          <p:nvPr/>
        </p:nvSpPr>
        <p:spPr>
          <a:xfrm>
            <a:off x="502920" y="3221355"/>
            <a:ext cx="4114800" cy="731520"/>
          </a:xfrm>
          <a:prstGeom prst="roundRect">
            <a:avLst>
              <a:gd name="adj" fmla="val 17500"/>
            </a:avLst>
          </a:prstGeom>
          <a:solidFill>
            <a:srgbClr val="203864"/>
          </a:solidFill>
          <a:ln>
            <a:noFill/>
          </a:ln>
        </p:spPr>
        <p:txBody>
          <a:bodyPr wrap="square" lIns="109728" tIns="45720" rIns="109728" bIns="45720" rtlCol="0" anchor="ctr">
            <a:noAutofit/>
          </a:bodyPr>
          <a:lstStyle/>
          <a:p>
            <a:pPr algn="ctr">
              <a:buNone/>
            </a:pPr>
            <a:r>
              <a:rPr kumimoji="1" lang="ja-JP" altLang="en-US" sz="2400" b="1" dirty="0">
                <a:solidFill>
                  <a:srgbClr val="FFFFFF"/>
                </a:solidFill>
                <a:latin typeface="MS PGothic"/>
                <a:ea typeface="MS PGothic"/>
              </a:rPr>
              <a:t>保護者への同意書</a:t>
            </a:r>
          </a:p>
        </p:txBody>
      </p:sp>
      <p:sp>
        <p:nvSpPr>
          <p:cNvPr id="1112" name="テキスト ボックス 1112"/>
          <p:cNvSpPr txBox="1"/>
          <p:nvPr/>
        </p:nvSpPr>
        <p:spPr>
          <a:xfrm>
            <a:off x="4983480" y="3221355"/>
            <a:ext cx="6702552" cy="731520"/>
          </a:xfrm>
          <a:prstGeom prst="rect">
            <a:avLst/>
          </a:prstGeom>
          <a:noFill/>
        </p:spPr>
        <p:txBody>
          <a:bodyPr wrap="square" lIns="0" tIns="0" rIns="0" bIns="0" rtlCol="0" anchor="ctr">
            <a:noAutofit/>
          </a:bodyPr>
          <a:lstStyle/>
          <a:p>
            <a:pPr algn="l">
              <a:lnSpc>
                <a:spcPct val="118000"/>
              </a:lnSpc>
              <a:buNone/>
            </a:pPr>
            <a:r>
              <a:rPr kumimoji="1" lang="ja-JP" altLang="en-US" sz="2800" dirty="0">
                <a:solidFill>
                  <a:srgbClr val="17253C"/>
                </a:solidFill>
                <a:latin typeface="MS PGothic"/>
                <a:ea typeface="MS PGothic"/>
              </a:rPr>
              <a:t>研究の説明と、いつでもやめられること</a:t>
            </a:r>
            <a:endParaRPr lang="ja-JP" altLang="en-US" sz="2800" dirty="0">
              <a:solidFill>
                <a:srgbClr val="17253C"/>
              </a:solidFill>
              <a:latin typeface="MS PGothic"/>
              <a:ea typeface="MS PGothic"/>
            </a:endParaRPr>
          </a:p>
        </p:txBody>
      </p:sp>
      <p:sp>
        <p:nvSpPr>
          <p:cNvPr id="1113" name="図形 1113"/>
          <p:cNvSpPr/>
          <p:nvPr/>
        </p:nvSpPr>
        <p:spPr>
          <a:xfrm>
            <a:off x="502920" y="4301490"/>
            <a:ext cx="4114800" cy="731520"/>
          </a:xfrm>
          <a:prstGeom prst="roundRect">
            <a:avLst>
              <a:gd name="adj" fmla="val 17500"/>
            </a:avLst>
          </a:prstGeom>
          <a:solidFill>
            <a:srgbClr val="203864"/>
          </a:solidFill>
          <a:ln>
            <a:noFill/>
          </a:ln>
        </p:spPr>
        <p:txBody>
          <a:bodyPr wrap="square" lIns="109728" tIns="45720" rIns="109728" bIns="45720" rtlCol="0" anchor="ctr">
            <a:noAutofit/>
          </a:bodyPr>
          <a:lstStyle/>
          <a:p>
            <a:pPr algn="ctr">
              <a:buNone/>
            </a:pPr>
            <a:r>
              <a:rPr kumimoji="1" lang="ja-JP" altLang="en-US" sz="2400" b="1" dirty="0">
                <a:solidFill>
                  <a:srgbClr val="FFFFFF"/>
                </a:solidFill>
                <a:latin typeface="MS PGothic"/>
                <a:ea typeface="MS PGothic"/>
              </a:rPr>
              <a:t>本人への同意</a:t>
            </a:r>
            <a:r>
              <a:rPr lang="ja-JP" altLang="en-US" sz="2400" b="1">
                <a:solidFill>
                  <a:srgbClr val="FFFFFF"/>
                </a:solidFill>
                <a:latin typeface="MS PGothic"/>
                <a:ea typeface="MS PGothic"/>
              </a:rPr>
              <a:t>書</a:t>
            </a:r>
            <a:endParaRPr kumimoji="1" lang="ja-JP" altLang="en-US" sz="2400" b="1" dirty="0">
              <a:solidFill>
                <a:srgbClr val="FFFFFF"/>
              </a:solidFill>
              <a:latin typeface="MS PGothic"/>
              <a:ea typeface="MS PGothic"/>
            </a:endParaRPr>
          </a:p>
        </p:txBody>
      </p:sp>
      <p:sp>
        <p:nvSpPr>
          <p:cNvPr id="1114" name="テキスト ボックス 1114"/>
          <p:cNvSpPr txBox="1"/>
          <p:nvPr/>
        </p:nvSpPr>
        <p:spPr>
          <a:xfrm>
            <a:off x="4983480" y="4301490"/>
            <a:ext cx="6702552" cy="731520"/>
          </a:xfrm>
          <a:prstGeom prst="rect">
            <a:avLst/>
          </a:prstGeom>
          <a:noFill/>
        </p:spPr>
        <p:txBody>
          <a:bodyPr wrap="square" lIns="0" tIns="0" rIns="0" bIns="0" rtlCol="0" anchor="ctr">
            <a:noAutofit/>
          </a:bodyPr>
          <a:lstStyle/>
          <a:p>
            <a:r>
              <a:rPr lang="ja-JP" sz="2800">
                <a:solidFill>
                  <a:srgbClr val="17253C"/>
                </a:solidFill>
                <a:latin typeface="MS PGothic"/>
                <a:ea typeface="MS PGothic"/>
              </a:rPr>
              <a:t>研究の説明と、いつでも</a:t>
            </a:r>
            <a:r>
              <a:rPr kumimoji="1" lang="ja-JP" sz="2800">
                <a:solidFill>
                  <a:srgbClr val="17253C"/>
                </a:solidFill>
                <a:latin typeface="MS PGothic"/>
                <a:ea typeface="MS PGothic"/>
              </a:rPr>
              <a:t>や</a:t>
            </a:r>
            <a:r>
              <a:rPr lang="ja-JP" sz="2800">
                <a:solidFill>
                  <a:srgbClr val="17253C"/>
                </a:solidFill>
                <a:latin typeface="MS PGothic"/>
                <a:ea typeface="MS PGothic"/>
              </a:rPr>
              <a:t>められるこ</a:t>
            </a:r>
            <a:r>
              <a:rPr kumimoji="1" lang="ja-JP" sz="2800">
                <a:solidFill>
                  <a:srgbClr val="17253C"/>
                </a:solidFill>
                <a:latin typeface="MS PGothic"/>
                <a:ea typeface="MS PGothic"/>
              </a:rPr>
              <a:t>と</a:t>
            </a:r>
            <a:endParaRPr lang="ja-JP" sz="2800">
              <a:solidFill>
                <a:srgbClr val="000000"/>
              </a:solidFill>
              <a:latin typeface="MS PGothic"/>
              <a:ea typeface="MS PGothic"/>
            </a:endParaRPr>
          </a:p>
        </p:txBody>
      </p:sp>
      <p:sp>
        <p:nvSpPr>
          <p:cNvPr id="1115" name="図形 1115"/>
          <p:cNvSpPr/>
          <p:nvPr/>
        </p:nvSpPr>
        <p:spPr>
          <a:xfrm>
            <a:off x="493395" y="5343525"/>
            <a:ext cx="4114800" cy="731520"/>
          </a:xfrm>
          <a:prstGeom prst="roundRect">
            <a:avLst>
              <a:gd name="adj" fmla="val 17500"/>
            </a:avLst>
          </a:prstGeom>
          <a:solidFill>
            <a:srgbClr val="203864"/>
          </a:solidFill>
          <a:ln>
            <a:noFill/>
          </a:ln>
        </p:spPr>
        <p:txBody>
          <a:bodyPr wrap="square" lIns="109728" tIns="45720" rIns="109728" bIns="45720" rtlCol="0" anchor="ctr">
            <a:noAutofit/>
          </a:bodyPr>
          <a:lstStyle/>
          <a:p>
            <a:pPr algn="ctr">
              <a:buNone/>
            </a:pPr>
            <a:r>
              <a:rPr kumimoji="1" lang="ja-JP" altLang="en-US" sz="2400" b="1" dirty="0">
                <a:solidFill>
                  <a:srgbClr val="FFFFFF"/>
                </a:solidFill>
                <a:latin typeface="MS PGothic"/>
                <a:ea typeface="MS PGothic"/>
              </a:rPr>
              <a:t>アンケート用紙</a:t>
            </a:r>
          </a:p>
        </p:txBody>
      </p:sp>
      <p:sp>
        <p:nvSpPr>
          <p:cNvPr id="1116" name="テキスト ボックス 1116"/>
          <p:cNvSpPr txBox="1"/>
          <p:nvPr/>
        </p:nvSpPr>
        <p:spPr>
          <a:xfrm>
            <a:off x="4973955" y="5343525"/>
            <a:ext cx="6702552" cy="731520"/>
          </a:xfrm>
          <a:prstGeom prst="rect">
            <a:avLst/>
          </a:prstGeom>
          <a:noFill/>
        </p:spPr>
        <p:txBody>
          <a:bodyPr wrap="square" lIns="0" tIns="0" rIns="0" bIns="0" rtlCol="0" anchor="ctr">
            <a:noAutofit/>
          </a:bodyPr>
          <a:lstStyle/>
          <a:p>
            <a:pPr algn="l">
              <a:lnSpc>
                <a:spcPct val="118000"/>
              </a:lnSpc>
              <a:buNone/>
            </a:pPr>
            <a:r>
              <a:rPr kumimoji="1" lang="ja-JP" altLang="en-US" sz="2800" dirty="0">
                <a:solidFill>
                  <a:srgbClr val="17253C"/>
                </a:solidFill>
                <a:latin typeface="MS PGothic"/>
                <a:ea typeface="MS PGothic"/>
              </a:rPr>
              <a:t>選択式15問＋自由記述3問。無記名</a:t>
            </a:r>
            <a:endParaRPr lang="ja-JP" altLang="en-US" sz="2800" dirty="0">
              <a:solidFill>
                <a:srgbClr val="17253C"/>
              </a:solidFill>
              <a:latin typeface="MS PGothic"/>
              <a:ea typeface="MS PGothic"/>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1" name="図形 1301"/>
          <p:cNvSpPr/>
          <p:nvPr/>
        </p:nvSpPr>
        <p:spPr>
          <a:xfrm>
            <a:off x="219456" y="274320"/>
            <a:ext cx="96012" cy="457200"/>
          </a:xfrm>
          <a:prstGeom prst="rect">
            <a:avLst/>
          </a:prstGeom>
          <a:solidFill>
            <a:srgbClr val="203864"/>
          </a:solidFill>
          <a:ln>
            <a:noFill/>
          </a:ln>
        </p:spPr>
        <p:txBody>
          <a:bodyPr wrap="square" lIns="109728" tIns="45720" rIns="109728" bIns="45720" rtlCol="0" anchor="ctr">
            <a:noAutofit/>
          </a:bodyPr>
          <a:lstStyle/>
          <a:p>
            <a:pPr algn="ctr"/>
            <a:endParaRPr lang="ja-JP"/>
          </a:p>
        </p:txBody>
      </p:sp>
      <p:sp>
        <p:nvSpPr>
          <p:cNvPr id="1302" name="テキスト ボックス 1302"/>
          <p:cNvSpPr txBox="1"/>
          <p:nvPr/>
        </p:nvSpPr>
        <p:spPr>
          <a:xfrm>
            <a:off x="502920" y="79848"/>
            <a:ext cx="9555480" cy="841248"/>
          </a:xfrm>
          <a:prstGeom prst="rect">
            <a:avLst/>
          </a:prstGeom>
          <a:noFill/>
        </p:spPr>
        <p:txBody>
          <a:bodyPr wrap="square" lIns="0" tIns="0" rIns="0" bIns="0" rtlCol="0" anchor="ctr">
            <a:noAutofit/>
          </a:bodyPr>
          <a:lstStyle/>
          <a:p>
            <a:pPr algn="l">
              <a:lnSpc>
                <a:spcPct val="100000"/>
              </a:lnSpc>
              <a:buNone/>
            </a:pPr>
            <a:r>
              <a:rPr kumimoji="1" lang="ja-JP" altLang="en-US" sz="3000" b="1" dirty="0">
                <a:solidFill>
                  <a:srgbClr val="203864"/>
                </a:solidFill>
                <a:latin typeface="MS PGothic"/>
                <a:ea typeface="MS PGothic"/>
              </a:rPr>
              <a:t>減点のしかた（補足）</a:t>
            </a:r>
          </a:p>
        </p:txBody>
      </p:sp>
      <p:sp>
        <p:nvSpPr>
          <p:cNvPr id="1303" name="スライド番号プレースホルダー 1303"/>
          <p:cNvSpPr>
            <a:spLocks noGrp="1"/>
          </p:cNvSpPr>
          <p:nvPr>
            <p:ph type="sldNum" sz="quarter" idx="12"/>
          </p:nvPr>
        </p:nvSpPr>
        <p:spPr/>
        <p:txBody>
          <a:bodyPr/>
          <a:lstStyle/>
          <a:p>
            <a:fld id="{3E6C071F-0D9C-4209-B1B5-FDE6B10623E0}" type="slidenum">
              <a:rPr kumimoji="1" lang="ja-JP" altLang="en-US" smtClean="0"/>
              <a:t>5</a:t>
            </a:fld>
            <a:endParaRPr kumimoji="1" lang="ja-JP" altLang="en-US"/>
          </a:p>
        </p:txBody>
      </p:sp>
      <p:sp>
        <p:nvSpPr>
          <p:cNvPr id="1304" name="図形 1304"/>
          <p:cNvSpPr/>
          <p:nvPr/>
        </p:nvSpPr>
        <p:spPr>
          <a:xfrm>
            <a:off x="502920" y="1188720"/>
            <a:ext cx="11183112" cy="1060704"/>
          </a:xfrm>
          <a:prstGeom prst="rect">
            <a:avLst/>
          </a:prstGeom>
          <a:solidFill>
            <a:srgbClr val="F3F4F6"/>
          </a:solidFill>
          <a:ln>
            <a:noFill/>
          </a:ln>
        </p:spPr>
        <p:txBody>
          <a:bodyPr wrap="square" lIns="109728" tIns="45720" rIns="109728" bIns="45720" rtlCol="0" anchor="ctr">
            <a:noAutofit/>
          </a:bodyPr>
          <a:lstStyle/>
          <a:p>
            <a:pPr algn="ctr"/>
            <a:endParaRPr lang="ja-JP"/>
          </a:p>
        </p:txBody>
      </p:sp>
      <p:sp>
        <p:nvSpPr>
          <p:cNvPr id="1305" name="図形 1305"/>
          <p:cNvSpPr/>
          <p:nvPr/>
        </p:nvSpPr>
        <p:spPr>
          <a:xfrm>
            <a:off x="502920" y="1188720"/>
            <a:ext cx="96012" cy="1060704"/>
          </a:xfrm>
          <a:prstGeom prst="rect">
            <a:avLst/>
          </a:prstGeom>
          <a:solidFill>
            <a:srgbClr val="203864"/>
          </a:solidFill>
          <a:ln>
            <a:noFill/>
          </a:ln>
        </p:spPr>
        <p:txBody>
          <a:bodyPr wrap="square" lIns="109728" tIns="45720" rIns="109728" bIns="45720" rtlCol="0" anchor="ctr">
            <a:noAutofit/>
          </a:bodyPr>
          <a:lstStyle/>
          <a:p>
            <a:pPr algn="ctr"/>
            <a:endParaRPr lang="ja-JP"/>
          </a:p>
        </p:txBody>
      </p:sp>
      <p:sp>
        <p:nvSpPr>
          <p:cNvPr id="1306" name="テキスト ボックス 1306"/>
          <p:cNvSpPr txBox="1"/>
          <p:nvPr/>
        </p:nvSpPr>
        <p:spPr>
          <a:xfrm>
            <a:off x="841248" y="1188720"/>
            <a:ext cx="10661904" cy="1060704"/>
          </a:xfrm>
          <a:prstGeom prst="rect">
            <a:avLst/>
          </a:prstGeom>
          <a:noFill/>
        </p:spPr>
        <p:txBody>
          <a:bodyPr wrap="square" lIns="0" tIns="0" rIns="0" bIns="0" rtlCol="0" anchor="ctr">
            <a:noAutofit/>
          </a:bodyPr>
          <a:lstStyle/>
          <a:p>
            <a:pPr algn="l">
              <a:lnSpc>
                <a:spcPct val="118000"/>
              </a:lnSpc>
              <a:buNone/>
            </a:pPr>
            <a:r>
              <a:rPr kumimoji="1" lang="ja-JP" altLang="en-US" sz="3100" b="1" dirty="0">
                <a:solidFill>
                  <a:srgbClr val="203864"/>
                </a:solidFill>
                <a:latin typeface="MS PGothic"/>
                <a:ea typeface="MS PGothic"/>
              </a:rPr>
              <a:t>音ごとのはみ出し具合を平均して、5点をかける</a:t>
            </a:r>
          </a:p>
        </p:txBody>
      </p:sp>
      <p:sp>
        <p:nvSpPr>
          <p:cNvPr id="1311" name="図形 1311"/>
          <p:cNvSpPr/>
          <p:nvPr/>
        </p:nvSpPr>
        <p:spPr>
          <a:xfrm>
            <a:off x="502920" y="2432304"/>
            <a:ext cx="2377440" cy="713232"/>
          </a:xfrm>
          <a:prstGeom prst="roundRect">
            <a:avLst>
              <a:gd name="adj" fmla="val 17949"/>
            </a:avLst>
          </a:prstGeom>
          <a:solidFill>
            <a:srgbClr val="6B7C96"/>
          </a:solidFill>
          <a:ln>
            <a:noFill/>
          </a:ln>
        </p:spPr>
        <p:txBody>
          <a:bodyPr wrap="square" lIns="109728" tIns="45720" rIns="109728" bIns="45720" rtlCol="0" anchor="ctr">
            <a:noAutofit/>
          </a:bodyPr>
          <a:lstStyle/>
          <a:p>
            <a:pPr algn="ctr">
              <a:buNone/>
            </a:pPr>
            <a:r>
              <a:rPr kumimoji="1" lang="ja-JP" altLang="en-US" sz="2400" b="1" dirty="0">
                <a:solidFill>
                  <a:srgbClr val="FFFFFF"/>
                </a:solidFill>
                <a:latin typeface="MS PGothic"/>
                <a:ea typeface="MS PGothic"/>
              </a:rPr>
              <a:t>① ずれ</a:t>
            </a:r>
          </a:p>
        </p:txBody>
      </p:sp>
      <p:sp>
        <p:nvSpPr>
          <p:cNvPr id="1312" name="テキスト ボックス 1312"/>
          <p:cNvSpPr txBox="1"/>
          <p:nvPr/>
        </p:nvSpPr>
        <p:spPr>
          <a:xfrm>
            <a:off x="3246120" y="2432304"/>
            <a:ext cx="8439912" cy="713232"/>
          </a:xfrm>
          <a:prstGeom prst="rect">
            <a:avLst/>
          </a:prstGeom>
          <a:noFill/>
        </p:spPr>
        <p:txBody>
          <a:bodyPr wrap="square" lIns="0" tIns="0" rIns="0" bIns="0" rtlCol="0" anchor="ctr">
            <a:noAutofit/>
          </a:bodyPr>
          <a:lstStyle/>
          <a:p>
            <a:pPr algn="l">
              <a:lnSpc>
                <a:spcPct val="118000"/>
              </a:lnSpc>
              <a:buNone/>
            </a:pPr>
            <a:r>
              <a:rPr kumimoji="1" lang="ja-JP" altLang="en-US" sz="2400" dirty="0">
                <a:solidFill>
                  <a:srgbClr val="17253C"/>
                </a:solidFill>
                <a:latin typeface="MS PGothic"/>
                <a:ea typeface="MS PGothic"/>
              </a:rPr>
              <a:t>その音のずれから、発話全体の中央値を引く</a:t>
            </a:r>
          </a:p>
        </p:txBody>
      </p:sp>
      <p:sp>
        <p:nvSpPr>
          <p:cNvPr id="1313" name="図形 1313"/>
          <p:cNvSpPr/>
          <p:nvPr/>
        </p:nvSpPr>
        <p:spPr>
          <a:xfrm>
            <a:off x="502920" y="3236976"/>
            <a:ext cx="2377440" cy="713232"/>
          </a:xfrm>
          <a:prstGeom prst="roundRect">
            <a:avLst>
              <a:gd name="adj" fmla="val 17949"/>
            </a:avLst>
          </a:prstGeom>
          <a:solidFill>
            <a:srgbClr val="6B7C96"/>
          </a:solidFill>
          <a:ln>
            <a:noFill/>
          </a:ln>
        </p:spPr>
        <p:txBody>
          <a:bodyPr wrap="square" lIns="109728" tIns="45720" rIns="109728" bIns="45720" rtlCol="0" anchor="ctr">
            <a:noAutofit/>
          </a:bodyPr>
          <a:lstStyle/>
          <a:p>
            <a:pPr algn="ctr">
              <a:buNone/>
            </a:pPr>
            <a:r>
              <a:rPr kumimoji="1" lang="ja-JP" altLang="en-US" sz="2400" b="1" dirty="0">
                <a:solidFill>
                  <a:srgbClr val="FFFFFF"/>
                </a:solidFill>
                <a:latin typeface="MS PGothic"/>
                <a:ea typeface="MS PGothic"/>
              </a:rPr>
              <a:t>② 範囲</a:t>
            </a:r>
          </a:p>
        </p:txBody>
      </p:sp>
      <p:sp>
        <p:nvSpPr>
          <p:cNvPr id="1314" name="テキスト ボックス 1314"/>
          <p:cNvSpPr txBox="1"/>
          <p:nvPr/>
        </p:nvSpPr>
        <p:spPr>
          <a:xfrm>
            <a:off x="3246120" y="3236976"/>
            <a:ext cx="8439912" cy="713232"/>
          </a:xfrm>
          <a:prstGeom prst="rect">
            <a:avLst/>
          </a:prstGeom>
          <a:noFill/>
        </p:spPr>
        <p:txBody>
          <a:bodyPr wrap="square" lIns="0" tIns="0" rIns="0" bIns="0" rtlCol="0" anchor="ctr">
            <a:noAutofit/>
          </a:bodyPr>
          <a:lstStyle/>
          <a:p>
            <a:pPr algn="l">
              <a:lnSpc>
                <a:spcPct val="118000"/>
              </a:lnSpc>
              <a:buNone/>
            </a:pPr>
            <a:r>
              <a:rPr kumimoji="1" lang="ja-JP" altLang="en-US" sz="2400" dirty="0">
                <a:solidFill>
                  <a:srgbClr val="17253C"/>
                </a:solidFill>
                <a:latin typeface="MS PGothic"/>
                <a:ea typeface="MS PGothic"/>
              </a:rPr>
              <a:t>声が先45ms・口が先200ms ＋ コマ1つぶんの誤差</a:t>
            </a:r>
          </a:p>
        </p:txBody>
      </p:sp>
      <p:sp>
        <p:nvSpPr>
          <p:cNvPr id="1315" name="図形 1315"/>
          <p:cNvSpPr/>
          <p:nvPr/>
        </p:nvSpPr>
        <p:spPr>
          <a:xfrm>
            <a:off x="502920" y="4041648"/>
            <a:ext cx="2377440" cy="713232"/>
          </a:xfrm>
          <a:prstGeom prst="roundRect">
            <a:avLst>
              <a:gd name="adj" fmla="val 17949"/>
            </a:avLst>
          </a:prstGeom>
          <a:solidFill>
            <a:srgbClr val="6B7C96"/>
          </a:solidFill>
          <a:ln>
            <a:noFill/>
          </a:ln>
        </p:spPr>
        <p:txBody>
          <a:bodyPr wrap="square" lIns="109728" tIns="45720" rIns="109728" bIns="45720" rtlCol="0" anchor="ctr">
            <a:noAutofit/>
          </a:bodyPr>
          <a:lstStyle/>
          <a:p>
            <a:pPr algn="ctr">
              <a:buNone/>
            </a:pPr>
            <a:r>
              <a:rPr kumimoji="1" lang="ja-JP" altLang="en-US" sz="2400" b="1" dirty="0">
                <a:solidFill>
                  <a:srgbClr val="FFFFFF"/>
                </a:solidFill>
                <a:latin typeface="MS PGothic"/>
                <a:ea typeface="MS PGothic"/>
              </a:rPr>
              <a:t>③ はみ出し</a:t>
            </a:r>
          </a:p>
        </p:txBody>
      </p:sp>
      <p:sp>
        <p:nvSpPr>
          <p:cNvPr id="1316" name="テキスト ボックス 1316"/>
          <p:cNvSpPr txBox="1"/>
          <p:nvPr/>
        </p:nvSpPr>
        <p:spPr>
          <a:xfrm>
            <a:off x="3246120" y="4041648"/>
            <a:ext cx="8439912" cy="713232"/>
          </a:xfrm>
          <a:prstGeom prst="rect">
            <a:avLst/>
          </a:prstGeom>
          <a:noFill/>
        </p:spPr>
        <p:txBody>
          <a:bodyPr wrap="square" lIns="0" tIns="0" rIns="0" bIns="0" rtlCol="0" anchor="ctr">
            <a:noAutofit/>
          </a:bodyPr>
          <a:lstStyle/>
          <a:p>
            <a:pPr algn="l">
              <a:lnSpc>
                <a:spcPct val="118000"/>
              </a:lnSpc>
              <a:buNone/>
            </a:pPr>
            <a:r>
              <a:rPr kumimoji="1" lang="ja-JP" altLang="en-US" sz="2400" dirty="0">
                <a:solidFill>
                  <a:srgbClr val="17253C"/>
                </a:solidFill>
                <a:latin typeface="MS PGothic"/>
                <a:ea typeface="MS PGothic"/>
              </a:rPr>
              <a:t>範囲の中は0、400msで1、あいだは直線</a:t>
            </a:r>
          </a:p>
        </p:txBody>
      </p:sp>
      <p:sp>
        <p:nvSpPr>
          <p:cNvPr id="1317" name="図形 1317"/>
          <p:cNvSpPr/>
          <p:nvPr/>
        </p:nvSpPr>
        <p:spPr>
          <a:xfrm>
            <a:off x="502920" y="4846320"/>
            <a:ext cx="2377440" cy="713232"/>
          </a:xfrm>
          <a:prstGeom prst="roundRect">
            <a:avLst>
              <a:gd name="adj" fmla="val 17949"/>
            </a:avLst>
          </a:prstGeom>
          <a:solidFill>
            <a:srgbClr val="203864"/>
          </a:solidFill>
          <a:ln>
            <a:noFill/>
          </a:ln>
        </p:spPr>
        <p:txBody>
          <a:bodyPr wrap="square" lIns="109728" tIns="45720" rIns="109728" bIns="45720" rtlCol="0" anchor="ctr">
            <a:noAutofit/>
          </a:bodyPr>
          <a:lstStyle/>
          <a:p>
            <a:pPr algn="ctr">
              <a:buNone/>
            </a:pPr>
            <a:r>
              <a:rPr kumimoji="1" lang="ja-JP" altLang="en-US" sz="2400" b="1" dirty="0">
                <a:solidFill>
                  <a:srgbClr val="FFFFFF"/>
                </a:solidFill>
                <a:latin typeface="MS PGothic"/>
                <a:ea typeface="MS PGothic"/>
              </a:rPr>
              <a:t>④ 減点</a:t>
            </a:r>
          </a:p>
        </p:txBody>
      </p:sp>
      <p:sp>
        <p:nvSpPr>
          <p:cNvPr id="1318" name="テキスト ボックス 1318"/>
          <p:cNvSpPr txBox="1"/>
          <p:nvPr/>
        </p:nvSpPr>
        <p:spPr>
          <a:xfrm>
            <a:off x="3246120" y="4846320"/>
            <a:ext cx="8439912" cy="713232"/>
          </a:xfrm>
          <a:prstGeom prst="rect">
            <a:avLst/>
          </a:prstGeom>
          <a:noFill/>
        </p:spPr>
        <p:txBody>
          <a:bodyPr wrap="square" lIns="0" tIns="0" rIns="0" bIns="0" rtlCol="0" anchor="ctr">
            <a:noAutofit/>
          </a:bodyPr>
          <a:lstStyle/>
          <a:p>
            <a:pPr algn="l">
              <a:lnSpc>
                <a:spcPct val="118000"/>
              </a:lnSpc>
              <a:buNone/>
            </a:pPr>
            <a:r>
              <a:rPr kumimoji="1" lang="ja-JP" altLang="en-US" sz="2400" dirty="0">
                <a:solidFill>
                  <a:srgbClr val="17253C"/>
                </a:solidFill>
                <a:latin typeface="MS PGothic"/>
                <a:ea typeface="MS PGothic"/>
              </a:rPr>
              <a:t>はみ出しの平均 × 5点（0.1点きざみ）</a:t>
            </a:r>
          </a:p>
        </p:txBody>
      </p:sp>
      <p:sp>
        <p:nvSpPr>
          <p:cNvPr id="1319" name="図形 1319"/>
          <p:cNvSpPr/>
          <p:nvPr/>
        </p:nvSpPr>
        <p:spPr>
          <a:xfrm>
            <a:off x="502920" y="5650992"/>
            <a:ext cx="11183112" cy="932688"/>
          </a:xfrm>
          <a:prstGeom prst="rect">
            <a:avLst/>
          </a:prstGeom>
          <a:solidFill>
            <a:srgbClr val="F3F4F6"/>
          </a:solidFill>
          <a:ln>
            <a:noFill/>
          </a:ln>
        </p:spPr>
        <p:txBody>
          <a:bodyPr wrap="square" lIns="109728" tIns="45720" rIns="109728" bIns="45720" rtlCol="0" anchor="ctr">
            <a:noAutofit/>
          </a:bodyPr>
          <a:lstStyle/>
          <a:p>
            <a:pPr algn="ctr"/>
            <a:endParaRPr lang="ja-JP"/>
          </a:p>
        </p:txBody>
      </p:sp>
      <p:sp>
        <p:nvSpPr>
          <p:cNvPr id="1320" name="図形 1320"/>
          <p:cNvSpPr/>
          <p:nvPr/>
        </p:nvSpPr>
        <p:spPr>
          <a:xfrm>
            <a:off x="502920" y="5650992"/>
            <a:ext cx="96012" cy="932688"/>
          </a:xfrm>
          <a:prstGeom prst="rect">
            <a:avLst/>
          </a:prstGeom>
          <a:solidFill>
            <a:srgbClr val="203864"/>
          </a:solidFill>
          <a:ln>
            <a:noFill/>
          </a:ln>
        </p:spPr>
        <p:txBody>
          <a:bodyPr wrap="square" lIns="109728" tIns="45720" rIns="109728" bIns="45720" rtlCol="0" anchor="ctr">
            <a:noAutofit/>
          </a:bodyPr>
          <a:lstStyle/>
          <a:p>
            <a:pPr algn="ctr"/>
            <a:endParaRPr lang="ja-JP"/>
          </a:p>
        </p:txBody>
      </p:sp>
      <p:sp>
        <p:nvSpPr>
          <p:cNvPr id="1321" name="テキスト ボックス 1321"/>
          <p:cNvSpPr txBox="1"/>
          <p:nvPr/>
        </p:nvSpPr>
        <p:spPr>
          <a:xfrm>
            <a:off x="841248" y="5650992"/>
            <a:ext cx="10661904" cy="932688"/>
          </a:xfrm>
          <a:prstGeom prst="rect">
            <a:avLst/>
          </a:prstGeom>
          <a:noFill/>
        </p:spPr>
        <p:txBody>
          <a:bodyPr wrap="square" lIns="0" tIns="0" rIns="0" bIns="0" rtlCol="0" anchor="ctr">
            <a:noAutofit/>
          </a:bodyPr>
          <a:lstStyle/>
          <a:p>
            <a:pPr algn="l">
              <a:lnSpc>
                <a:spcPct val="118000"/>
              </a:lnSpc>
              <a:buNone/>
            </a:pPr>
            <a:r>
              <a:rPr kumimoji="1" lang="ja-JP" altLang="en-US" sz="2400" b="1" dirty="0">
                <a:solidFill>
                  <a:srgbClr val="203864"/>
                </a:solidFill>
                <a:latin typeface="MS PGothic"/>
                <a:ea typeface="MS PGothic"/>
              </a:rPr>
              <a:t>例）4音の単語で、1音だけ声が200ms先（17fpsの録画）</a:t>
            </a:r>
            <a:br>
              <a:rPr kumimoji="1" lang="ja-JP" altLang="en-US" sz="2400" b="1" dirty="0">
                <a:solidFill>
                  <a:srgbClr val="203864"/>
                </a:solidFill>
                <a:latin typeface="MS PGothic"/>
                <a:ea typeface="MS PGothic"/>
              </a:rPr>
            </a:br>
            <a:r>
              <a:rPr kumimoji="1" lang="ja-JP" altLang="en-US" sz="2400" b="1" dirty="0">
                <a:solidFill>
                  <a:srgbClr val="203864"/>
                </a:solidFill>
                <a:latin typeface="MS PGothic"/>
                <a:ea typeface="MS PGothic"/>
              </a:rPr>
              <a:t>→ はみ出しは0.27。4音の平均なので 5点×0.27÷4 ＝ 減点0.3点</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1" name="図形 1501"/>
          <p:cNvSpPr/>
          <p:nvPr/>
        </p:nvSpPr>
        <p:spPr>
          <a:xfrm>
            <a:off x="219456" y="274320"/>
            <a:ext cx="96012" cy="457200"/>
          </a:xfrm>
          <a:prstGeom prst="rect">
            <a:avLst/>
          </a:prstGeom>
          <a:solidFill>
            <a:srgbClr val="203864"/>
          </a:solidFill>
          <a:ln>
            <a:noFill/>
          </a:ln>
        </p:spPr>
        <p:txBody>
          <a:bodyPr wrap="square" lIns="109728" tIns="45720" rIns="109728" bIns="45720" rtlCol="0" anchor="ctr">
            <a:noAutofit/>
          </a:bodyPr>
          <a:lstStyle/>
          <a:p>
            <a:pPr algn="ctr"/>
            <a:endParaRPr lang="ja-JP"/>
          </a:p>
        </p:txBody>
      </p:sp>
      <p:sp>
        <p:nvSpPr>
          <p:cNvPr id="1502" name="テキスト ボックス 1502"/>
          <p:cNvSpPr txBox="1"/>
          <p:nvPr/>
        </p:nvSpPr>
        <p:spPr>
          <a:xfrm>
            <a:off x="502920" y="79848"/>
            <a:ext cx="9555480" cy="841248"/>
          </a:xfrm>
          <a:prstGeom prst="rect">
            <a:avLst/>
          </a:prstGeom>
          <a:noFill/>
        </p:spPr>
        <p:txBody>
          <a:bodyPr wrap="square" lIns="0" tIns="0" rIns="0" bIns="0" rtlCol="0" anchor="ctr">
            <a:noAutofit/>
          </a:bodyPr>
          <a:lstStyle/>
          <a:p>
            <a:pPr algn="l">
              <a:lnSpc>
                <a:spcPct val="100000"/>
              </a:lnSpc>
              <a:buNone/>
            </a:pPr>
            <a:r>
              <a:rPr kumimoji="1" lang="ja-JP" altLang="en-US" sz="3000" b="1" dirty="0">
                <a:solidFill>
                  <a:srgbClr val="203864"/>
                </a:solidFill>
                <a:latin typeface="MS PGothic"/>
                <a:ea typeface="MS PGothic"/>
              </a:rPr>
              <a:t>参考文献（補足）</a:t>
            </a:r>
          </a:p>
        </p:txBody>
      </p:sp>
      <p:sp>
        <p:nvSpPr>
          <p:cNvPr id="1503" name="スライド番号プレースホルダー 1503"/>
          <p:cNvSpPr>
            <a:spLocks noGrp="1"/>
          </p:cNvSpPr>
          <p:nvPr>
            <p:ph type="sldNum" sz="quarter" idx="12"/>
          </p:nvPr>
        </p:nvSpPr>
        <p:spPr/>
        <p:txBody>
          <a:bodyPr/>
          <a:lstStyle/>
          <a:p>
            <a:fld id="{3E6C071F-0D9C-4209-B1B5-FDE6B10623E0}" type="slidenum">
              <a:rPr kumimoji="1" lang="ja-JP" altLang="en-US" smtClean="0"/>
              <a:t>6</a:t>
            </a:fld>
            <a:endParaRPr kumimoji="1" lang="ja-JP" altLang="en-US"/>
          </a:p>
        </p:txBody>
      </p:sp>
      <p:sp>
        <p:nvSpPr>
          <p:cNvPr id="1504" name="テキスト ボックス 1504"/>
          <p:cNvSpPr txBox="1"/>
          <p:nvPr/>
        </p:nvSpPr>
        <p:spPr>
          <a:xfrm>
            <a:off x="502920" y="1078992"/>
            <a:ext cx="11183112" cy="329184"/>
          </a:xfrm>
          <a:prstGeom prst="rect">
            <a:avLst/>
          </a:prstGeom>
          <a:noFill/>
        </p:spPr>
        <p:txBody>
          <a:bodyPr wrap="square" lIns="0" tIns="0" rIns="0" bIns="0" rtlCol="0" anchor="ctr">
            <a:noAutofit/>
          </a:bodyPr>
          <a:lstStyle/>
          <a:p>
            <a:pPr algn="l">
              <a:buNone/>
            </a:pPr>
            <a:r>
              <a:rPr kumimoji="1" lang="ja-JP" altLang="en-US" sz="1600" dirty="0">
                <a:solidFill>
                  <a:srgbClr val="5A6472"/>
                </a:solidFill>
                <a:latin typeface="MS PGothic"/>
                <a:ea typeface="MS PGothic"/>
              </a:rPr>
              <a:t>しきい値の出典。★は本文・表の数値を原典で、☆は要旨で確かめた。上限5点に対応する文献はない</a:t>
            </a:r>
          </a:p>
        </p:txBody>
      </p:sp>
      <p:sp>
        <p:nvSpPr>
          <p:cNvPr id="1505" name="テキスト ボックス 1505"/>
          <p:cNvSpPr txBox="1"/>
          <p:nvPr/>
        </p:nvSpPr>
        <p:spPr>
          <a:xfrm>
            <a:off x="502920" y="1517904"/>
            <a:ext cx="11183112" cy="4992624"/>
          </a:xfrm>
          <a:prstGeom prst="rect">
            <a:avLst/>
          </a:prstGeom>
          <a:noFill/>
        </p:spPr>
        <p:txBody>
          <a:bodyPr wrap="square" lIns="0" tIns="0" rIns="0" bIns="0" rtlCol="0" anchor="t">
            <a:noAutofit/>
          </a:bodyPr>
          <a:lstStyle/>
          <a:p>
            <a:pPr marL="237744" indent="-237744" algn="l">
              <a:lnSpc>
                <a:spcPct val="112000"/>
              </a:lnSpc>
              <a:buNone/>
            </a:pPr>
            <a:r>
              <a:rPr kumimoji="1" lang="ja-JP" altLang="en-US" sz="1600" b="1" dirty="0">
                <a:solidFill>
                  <a:srgbClr val="203864"/>
                </a:solidFill>
                <a:latin typeface="MS PGothic"/>
                <a:ea typeface="MS PGothic"/>
              </a:rPr>
              <a:t>★ </a:t>
            </a:r>
            <a:r>
              <a:rPr kumimoji="1" lang="ja-JP" altLang="en-US" sz="1600" dirty="0">
                <a:solidFill>
                  <a:srgbClr val="17253C"/>
                </a:solidFill>
                <a:latin typeface="MS PGothic"/>
                <a:ea typeface="MS PGothic"/>
              </a:rPr>
              <a:t>Grant, K. W., van Wassenhove, V., &amp; Poeppel, D. (2003). Discrimination of auditory-visual synchrony. AVSP 2003, St. Jorioz.</a:t>
            </a:r>
            <a:r>
              <a:rPr kumimoji="1" lang="ja-JP" altLang="en-US" sz="1600" dirty="0">
                <a:solidFill>
                  <a:srgbClr val="5A6472"/>
                </a:solidFill>
                <a:latin typeface="MS PGothic"/>
                <a:ea typeface="MS PGothic"/>
              </a:rPr>
              <a:t>　— 弁別閾 約 −45〜+200ms。気づく点と了解度が下がる点がほぼ一致</a:t>
            </a:r>
          </a:p>
          <a:p>
            <a:pPr marL="237744" indent="-237744" algn="l">
              <a:lnSpc>
                <a:spcPct val="112000"/>
              </a:lnSpc>
              <a:spcBef>
                <a:spcPts val="700"/>
              </a:spcBef>
              <a:buNone/>
            </a:pPr>
            <a:r>
              <a:rPr kumimoji="1" lang="ja-JP" altLang="en-US" sz="1600" b="1" dirty="0">
                <a:solidFill>
                  <a:srgbClr val="203864"/>
                </a:solidFill>
                <a:latin typeface="MS PGothic"/>
                <a:ea typeface="MS PGothic"/>
              </a:rPr>
              <a:t>★ </a:t>
            </a:r>
            <a:r>
              <a:rPr kumimoji="1" lang="ja-JP" altLang="en-US" sz="1600" dirty="0">
                <a:solidFill>
                  <a:srgbClr val="17253C"/>
                </a:solidFill>
                <a:latin typeface="MS PGothic"/>
                <a:ea typeface="MS PGothic"/>
              </a:rPr>
              <a:t>Grant, K. W., &amp; Greenberg, S. (2001). Speech intelligibility derived from asynchronous processing of auditory-visual information. AVSP 2001, 132–137.</a:t>
            </a:r>
            <a:r>
              <a:rPr kumimoji="1" lang="ja-JP" altLang="en-US" sz="1600" dirty="0">
                <a:solidFill>
                  <a:srgbClr val="5A6472"/>
                </a:solidFill>
                <a:latin typeface="MS PGothic"/>
                <a:ea typeface="MS PGothic"/>
              </a:rPr>
              <a:t>　— 表1：400msで、口が見えることの上乗せがほぼ全部なくなる</a:t>
            </a:r>
          </a:p>
          <a:p>
            <a:pPr marL="237744" indent="-237744" algn="l">
              <a:lnSpc>
                <a:spcPct val="112000"/>
              </a:lnSpc>
              <a:spcBef>
                <a:spcPts val="700"/>
              </a:spcBef>
              <a:buNone/>
            </a:pPr>
            <a:r>
              <a:rPr kumimoji="1" lang="ja-JP" altLang="en-US" sz="1600" b="1" dirty="0">
                <a:solidFill>
                  <a:srgbClr val="203864"/>
                </a:solidFill>
                <a:latin typeface="MS PGothic"/>
                <a:ea typeface="MS PGothic"/>
              </a:rPr>
              <a:t>★ </a:t>
            </a:r>
            <a:r>
              <a:rPr kumimoji="1" lang="ja-JP" altLang="en-US" sz="1600" dirty="0">
                <a:solidFill>
                  <a:srgbClr val="17253C"/>
                </a:solidFill>
                <a:latin typeface="MS PGothic"/>
                <a:ea typeface="MS PGothic"/>
              </a:rPr>
              <a:t>ITU-R (1998). Recommendation ITU-R BT.1359-1: Relative timing of sound and vision for broadcasting.</a:t>
            </a:r>
            <a:r>
              <a:rPr kumimoji="1" lang="ja-JP" altLang="en-US" sz="1600" dirty="0">
                <a:solidFill>
                  <a:srgbClr val="5A6472"/>
                </a:solidFill>
                <a:latin typeface="MS PGothic"/>
                <a:ea typeface="MS PGothic"/>
              </a:rPr>
              <a:t>　— 検知限 +45／−125ms、許容限 +90／−185ms。付録1の「±半コマ」を測定の誤差に使った</a:t>
            </a:r>
          </a:p>
          <a:p>
            <a:pPr marL="237744" indent="-237744" algn="l">
              <a:lnSpc>
                <a:spcPct val="112000"/>
              </a:lnSpc>
              <a:spcBef>
                <a:spcPts val="700"/>
              </a:spcBef>
              <a:buNone/>
            </a:pPr>
            <a:r>
              <a:rPr kumimoji="1" lang="ja-JP" altLang="en-US" sz="1600" b="1" dirty="0">
                <a:solidFill>
                  <a:srgbClr val="203864"/>
                </a:solidFill>
                <a:latin typeface="MS PGothic"/>
                <a:ea typeface="MS PGothic"/>
              </a:rPr>
              <a:t>☆ </a:t>
            </a:r>
            <a:r>
              <a:rPr kumimoji="1" lang="ja-JP" altLang="en-US" sz="1600" dirty="0">
                <a:solidFill>
                  <a:srgbClr val="17253C"/>
                </a:solidFill>
                <a:latin typeface="MS PGothic"/>
                <a:ea typeface="MS PGothic"/>
              </a:rPr>
              <a:t>van Wassenhove, V., Grant, K. W., &amp; Poeppel, D. (2007). Temporal window of integration in auditory-visual speech perception. Neuropsychologia, 45(3), 598–607.</a:t>
            </a:r>
            <a:r>
              <a:rPr kumimoji="1" lang="ja-JP" altLang="en-US" sz="1600" dirty="0">
                <a:solidFill>
                  <a:srgbClr val="5A6472"/>
                </a:solidFill>
                <a:latin typeface="MS PGothic"/>
                <a:ea typeface="MS PGothic"/>
              </a:rPr>
              <a:t>　— 統合の窓 −30〜+170ms（非対称で幅は約200ms）</a:t>
            </a:r>
          </a:p>
          <a:p>
            <a:pPr marL="237744" indent="-237744" algn="l">
              <a:lnSpc>
                <a:spcPct val="112000"/>
              </a:lnSpc>
              <a:spcBef>
                <a:spcPts val="700"/>
              </a:spcBef>
              <a:buNone/>
            </a:pPr>
            <a:r>
              <a:rPr kumimoji="1" lang="ja-JP" altLang="en-US" sz="1600" b="1" dirty="0">
                <a:solidFill>
                  <a:srgbClr val="203864"/>
                </a:solidFill>
                <a:latin typeface="MS PGothic"/>
                <a:ea typeface="MS PGothic"/>
              </a:rPr>
              <a:t>☆ </a:t>
            </a:r>
            <a:r>
              <a:rPr kumimoji="1" lang="ja-JP" altLang="en-US" sz="1600" dirty="0">
                <a:solidFill>
                  <a:srgbClr val="17253C"/>
                </a:solidFill>
                <a:latin typeface="MS PGothic"/>
                <a:ea typeface="MS PGothic"/>
              </a:rPr>
              <a:t>Schwartz, J.-L., &amp; Savariaux, C. (2014). No, there is no 150 ms lead of visual speech on auditory speech… PLoS Comput. Biol., 10(7), e1003743.</a:t>
            </a:r>
            <a:r>
              <a:rPr kumimoji="1" lang="ja-JP" altLang="en-US" sz="1600" dirty="0">
                <a:solidFill>
                  <a:srgbClr val="5A6472"/>
                </a:solidFill>
                <a:latin typeface="MS PGothic"/>
                <a:ea typeface="MS PGothic"/>
              </a:rPr>
              <a:t>　— 正しい発話でも、声が先20〜40ms・口が先70〜200msはずれる</a:t>
            </a:r>
          </a:p>
          <a:p>
            <a:pPr marL="237744" indent="-237744" algn="l">
              <a:lnSpc>
                <a:spcPct val="112000"/>
              </a:lnSpc>
              <a:spcBef>
                <a:spcPts val="700"/>
              </a:spcBef>
              <a:buNone/>
            </a:pPr>
            <a:r>
              <a:rPr kumimoji="1" lang="ja-JP" altLang="en-US" sz="1600" b="1" dirty="0">
                <a:solidFill>
                  <a:srgbClr val="203864"/>
                </a:solidFill>
                <a:latin typeface="MS PGothic"/>
                <a:ea typeface="MS PGothic"/>
              </a:rPr>
              <a:t>☆ </a:t>
            </a:r>
            <a:r>
              <a:rPr kumimoji="1" lang="ja-JP" altLang="en-US" sz="1600" dirty="0">
                <a:solidFill>
                  <a:srgbClr val="17253C"/>
                </a:solidFill>
                <a:latin typeface="MS PGothic"/>
                <a:ea typeface="MS PGothic"/>
              </a:rPr>
              <a:t>Butera, I. M., ほか (2018). Audiovisual temporal processing in postlingually deafened adults with cochlear implants. Scientific Reports, 8, 11345.</a:t>
            </a:r>
            <a:r>
              <a:rPr kumimoji="1" lang="ja-JP" altLang="en-US" sz="1600" dirty="0">
                <a:solidFill>
                  <a:srgbClr val="5A6472"/>
                </a:solidFill>
                <a:latin typeface="MS PGothic"/>
                <a:ea typeface="MS PGothic"/>
              </a:rPr>
              <a:t>　— 人工内耳の利用者と健聴者で、統合の窓の幅に差なし</a:t>
            </a:r>
          </a:p>
          <a:p>
            <a:pPr marL="237744" indent="-237744" algn="l">
              <a:lnSpc>
                <a:spcPct val="112000"/>
              </a:lnSpc>
              <a:spcBef>
                <a:spcPts val="700"/>
              </a:spcBef>
              <a:buNone/>
            </a:pPr>
            <a:r>
              <a:rPr kumimoji="1" lang="ja-JP" altLang="en-US" sz="1600" b="1" dirty="0">
                <a:solidFill>
                  <a:srgbClr val="203864"/>
                </a:solidFill>
                <a:latin typeface="MS PGothic"/>
                <a:ea typeface="MS PGothic"/>
              </a:rPr>
              <a:t>☆ </a:t>
            </a:r>
            <a:r>
              <a:rPr kumimoji="1" lang="ja-JP" altLang="en-US" sz="1600" dirty="0">
                <a:solidFill>
                  <a:srgbClr val="17253C"/>
                </a:solidFill>
                <a:latin typeface="MS PGothic"/>
                <a:ea typeface="MS PGothic"/>
              </a:rPr>
              <a:t>Salagovic, C. A., Stevenson, R. A., &amp; Butler, B. E. (2026). Effects of audiovisual asynchrony on speech intelligibility… JSLHR, 69(1), 333–346.</a:t>
            </a:r>
            <a:r>
              <a:rPr kumimoji="1" lang="ja-JP" altLang="en-US" sz="1600" dirty="0">
                <a:solidFill>
                  <a:srgbClr val="5A6472"/>
                </a:solidFill>
                <a:latin typeface="MS PGothic"/>
                <a:ea typeface="MS PGothic"/>
              </a:rPr>
              <a:t>　— 人工内耳の利用者は、ずれによる了解度の低下が大きい</a:t>
            </a:r>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V-3D">
      <a:majorFont>
        <a:latin typeface="ＭＳ Ｐゴシック"/>
        <a:ea typeface="ＭＳ ゴシック"/>
        <a:cs typeface=""/>
      </a:majorFont>
      <a:minorFont>
        <a:latin typeface="ＭＳ Ｐゴシック"/>
        <a:ea typeface="ＭＳ ゴシック"/>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11171</TotalTime>
  <Words>1424</Words>
  <Application>Microsoft Office PowerPoint</Application>
  <PresentationFormat>ワイド画面</PresentationFormat>
  <Paragraphs>98</Paragraphs>
  <Slides>7</Slides>
  <Notes>6</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7</vt:i4>
      </vt:variant>
    </vt:vector>
  </HeadingPairs>
  <TitlesOfParts>
    <vt:vector size="13" baseType="lpstr">
      <vt:lpstr>ＭＳ Ｐゴシック</vt:lpstr>
      <vt:lpstr>ＭＳ Ｐゴシック</vt:lpstr>
      <vt:lpstr>ＭＳ ゴシック</vt:lpstr>
      <vt:lpstr>游ゴシック</vt:lpstr>
      <vt:lpstr>Arial</vt:lpstr>
      <vt:lpstr>Office テーマ</vt:lpstr>
      <vt:lpstr>研究室mtg プロジェクトデザインⅢ - 個人報告 -</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頃安隆耀</dc:creator>
  <cp:lastModifiedBy>MAEDA Yuuki</cp:lastModifiedBy>
  <cp:revision>4956</cp:revision>
  <cp:lastPrinted>2025-11-30T14:00:36Z</cp:lastPrinted>
  <dcterms:created xsi:type="dcterms:W3CDTF">2024-12-17T04:06:39Z</dcterms:created>
  <dcterms:modified xsi:type="dcterms:W3CDTF">2026-10-13T05:14:49Z</dcterms:modified>
</cp:coreProperties>
</file>