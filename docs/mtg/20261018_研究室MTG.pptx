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sldIdLst>
    <p:sldId id="283" r:id="rId2"/>
    <p:sldId id="1002" r:id="rId3"/>
    <p:sldId id="1010" r:id="rId16"/>
    <p:sldId id="1009" r:id="rId15"/>
    <p:sldId id="1008" r:id="rId6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07BA99-D693-2BD6-E5CE-EC1D8B98F12B}" name="MAEDA Yuuki" initials="MY" userId="LH0O2BYGFWwxLJCswbkcfIbi9WSUK5oFTub0UyEOBYc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8E0000"/>
    <a:srgbClr val="FFCDCD"/>
    <a:srgbClr val="003CFF"/>
    <a:srgbClr val="FEBEBE"/>
    <a:srgbClr val="FE7272"/>
    <a:srgbClr val="6965FF"/>
    <a:srgbClr val="E0E5F7"/>
    <a:srgbClr val="270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8" autoAdjust="0"/>
    <p:restoredTop sz="85766" autoAdjust="0"/>
  </p:normalViewPr>
  <p:slideViewPr>
    <p:cSldViewPr snapToGrid="0">
      <p:cViewPr varScale="1">
        <p:scale>
          <a:sx n="63" d="100"/>
          <a:sy n="63" d="100"/>
        </p:scale>
        <p:origin x="89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4" Type="http://schemas.microsoft.com/office/2018/10/relationships/authors" Target="authors.xml"/>  <Relationship Id="rId15" Type="http://schemas.openxmlformats.org/officeDocument/2006/relationships/slide" Target="slides/slide6.xml"/>
  <Relationship Id="rId16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AB83EA4B-B552-4348-9F79-9CC79FF47F8F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DFD6A99-F84B-429E-8B93-D93C354EB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34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400" dirty="0"/>
              <a:t>【1枚目／20秒】今週やったこと</a:t>
            </a:r>
          </a:p>
          <a:p>
            <a:r>
              <a:rPr kumimoji="1" lang="ja-JP" altLang="en-US" sz="1400" dirty="0"/>
              <a:t>今週は、アプリの手順書を2つ作りました。</a:t>
            </a:r>
          </a:p>
          <a:p>
            <a:r>
              <a:rPr kumimoji="1" lang="ja-JP" altLang="en-US" sz="1400" dirty="0"/>
              <a:t>生徒用はログインから結果の見かたまで、保護者用はお手本の登録と練習の見守り方を、それぞれ10の章で説明しています。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E1E52-1B0C-4B1E-9D0F-2C3A4B5C6D7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400" dirty="0"/>
              <a:t>【2枚目／15秒】生徒用の手順書</a:t>
            </a:r>
          </a:p>
          <a:p>
            <a:r>
              <a:rPr kumimoji="1" lang="ja-JP" altLang="en-US" sz="1400" dirty="0"/>
              <a:t>生徒用では、1回の練習の流れを、実際の画面で順番に説明しました。</a:t>
            </a:r>
          </a:p>
          <a:p>
            <a:r>
              <a:rPr kumimoji="1" lang="ja-JP" altLang="en-US" sz="1400" dirty="0"/>
              <a:t>中学生でも読めるように、ひらがなを多めにしています。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E1E52-1B0C-4B1E-9D0F-2C3A4B5C6D7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400" dirty="0"/>
              <a:t>【3枚目／20秒】保護者用の手順書</a:t>
            </a:r>
          </a:p>
          <a:p>
            <a:r>
              <a:rPr kumimoji="1" lang="ja-JP" altLang="en-US" sz="1400" dirty="0"/>
              <a:t>保護者用は、家庭でお手本を登録する手順が中心です。</a:t>
            </a:r>
          </a:p>
          <a:p>
            <a:r>
              <a:rPr kumimoji="1" lang="ja-JP" altLang="en-US" sz="1400" dirty="0"/>
              <a:t>設定から単語を追加し、読みを入れて3秒録画すると登録できます。</a:t>
            </a:r>
          </a:p>
          <a:p>
            <a:r>
              <a:rPr kumimoji="1" lang="ja-JP" altLang="en-US" sz="1400" dirty="0"/>
              <a:t>保存されるデータの説明も入れました。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E1E52-1B0C-4B1E-9D0F-2C3A4B5C6D7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400" dirty="0"/>
              <a:t>【4枚目／15秒】来週以降にやること</a:t>
            </a:r>
          </a:p>
          <a:p>
            <a:r>
              <a:rPr kumimoji="1" lang="ja-JP" altLang="en-US" sz="1400" dirty="0"/>
              <a:t>来週は、この手順書を先生と研究室の皆さんに読んでいただき、分かりにくい所を直します。</a:t>
            </a:r>
          </a:p>
          <a:p>
            <a:r>
              <a:rPr kumimoji="1" lang="ja-JP" altLang="en-US" sz="1400" dirty="0"/>
              <a:t>あわせて、URLと使える時間を学校と決めます。以上です。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E1E52-1B0C-4B1E-9D0F-2C3A4B5C6D7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E10D62-C92A-4F1E-98D6-8AAD41AD5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A12759-84C9-4872-B09F-422C125F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B15B41-7374-4CC7-9109-47CF158D07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4947285"/>
            <a:ext cx="4562475" cy="182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9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BB12E4-4FB4-403B-93B8-BB9D7FC9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3989B16-BB6F-4720-8B0E-61CAC053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69366A-DF25-4519-BAC1-480D4D4D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F8A609-CDB0-4A53-B415-41085FC3997F}"/>
              </a:ext>
            </a:extLst>
          </p:cNvPr>
          <p:cNvSpPr/>
          <p:nvPr userDrawn="1"/>
        </p:nvSpPr>
        <p:spPr>
          <a:xfrm>
            <a:off x="0" y="941546"/>
            <a:ext cx="12192000" cy="94456"/>
          </a:xfrm>
          <a:prstGeom prst="rect">
            <a:avLst/>
          </a:prstGeom>
          <a:gradFill flip="none" rotWithShape="1">
            <a:gsLst>
              <a:gs pos="50300">
                <a:srgbClr val="7191FB"/>
              </a:gs>
              <a:gs pos="0">
                <a:srgbClr val="003CFF"/>
              </a:gs>
              <a:gs pos="100000">
                <a:srgbClr val="E0E5F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621C29B-1C6D-422E-8F84-C6A20BB7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643"/>
            <a:ext cx="10515600" cy="93690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D99C714-3F88-4772-B944-03EF6D7870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15332"/>
            <a:ext cx="1743075" cy="6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0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レイアウト_引用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E7CD8-40FC-4276-9769-D0F74126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10515600" cy="94154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BCF50A-D14A-4AB8-AF69-317DB8320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C071F-0D9C-4209-B1B5-FDE6B10623E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CD32116-3149-4A79-AF49-7F7EC47A31CA}"/>
              </a:ext>
            </a:extLst>
          </p:cNvPr>
          <p:cNvSpPr/>
          <p:nvPr userDrawn="1"/>
        </p:nvSpPr>
        <p:spPr>
          <a:xfrm>
            <a:off x="0" y="941546"/>
            <a:ext cx="12192000" cy="94456"/>
          </a:xfrm>
          <a:prstGeom prst="rect">
            <a:avLst/>
          </a:prstGeom>
          <a:gradFill flip="none" rotWithShape="1">
            <a:gsLst>
              <a:gs pos="50300">
                <a:srgbClr val="7191FB"/>
              </a:gs>
              <a:gs pos="0">
                <a:srgbClr val="003CFF"/>
              </a:gs>
              <a:gs pos="100000">
                <a:srgbClr val="E0E5F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F0CA54-1FF0-4446-B8F6-4E9CA4FBD1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15332"/>
            <a:ext cx="1743075" cy="69723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B2B1F7C-0E26-442F-8C28-A08ABD2F5E2E}"/>
              </a:ext>
            </a:extLst>
          </p:cNvPr>
          <p:cNvCxnSpPr>
            <a:cxnSpLocks/>
          </p:cNvCxnSpPr>
          <p:nvPr userDrawn="1"/>
        </p:nvCxnSpPr>
        <p:spPr>
          <a:xfrm>
            <a:off x="0" y="6029325"/>
            <a:ext cx="1219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3F33C3A-E648-4AC6-A84A-D7699640E9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" y="6029325"/>
            <a:ext cx="12039600" cy="828672"/>
          </a:xfrm>
        </p:spPr>
        <p:txBody>
          <a:bodyPr>
            <a:normAutofit/>
          </a:bodyPr>
          <a:lstStyle>
            <a:lvl1pPr>
              <a:defRPr sz="1400"/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249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セクションレイアウト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7B989D-4740-4A96-A8FE-30CCCA49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A4F63D-54A3-4368-BDE4-8143D4E1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B8AC74-6922-4AED-8284-190F413E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47FB028-DD22-426B-A01D-C63796C41A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15332"/>
            <a:ext cx="1743075" cy="6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3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レイアウト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3BC383-D445-46D7-A9BE-66B84569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12" y="1803585"/>
            <a:ext cx="10515600" cy="1325563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56AA36-8927-46F0-B179-7AECE390502A}"/>
              </a:ext>
            </a:extLst>
          </p:cNvPr>
          <p:cNvSpPr/>
          <p:nvPr userDrawn="1"/>
        </p:nvSpPr>
        <p:spPr>
          <a:xfrm>
            <a:off x="0" y="3129148"/>
            <a:ext cx="12192000" cy="94456"/>
          </a:xfrm>
          <a:prstGeom prst="rect">
            <a:avLst/>
          </a:prstGeom>
          <a:gradFill flip="none" rotWithShape="1">
            <a:gsLst>
              <a:gs pos="0">
                <a:srgbClr val="270AFE"/>
              </a:gs>
              <a:gs pos="100000">
                <a:srgbClr val="E0E5F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8117097-358B-4C92-A4F5-0ED0DE0D6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712" y="3445608"/>
            <a:ext cx="10515600" cy="18605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F76C799-F711-44C6-BC37-713FC45F0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847" y="4902199"/>
            <a:ext cx="4651378" cy="18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1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61AB44-B507-4BA8-A329-22D5654A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977671-9D5B-45FB-BF41-47FCF4E2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E0CCD0-3AC3-49BA-9FD3-94611FB7B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2600" y="515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3E6C071F-0D9C-4209-B1B5-FDE6B10623E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00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7" r:id="rId3"/>
    <p:sldLayoutId id="2147483655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mtg_title_s.png"/><Relationship Id="rId4" Type="http://schemas.openxmlformats.org/officeDocument/2006/relationships/image" Target="../media/mtg_title_p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tg_p_settings_addword_crop.png"/><Relationship Id="rId3" Type="http://schemas.openxmlformats.org/officeDocument/2006/relationships/image" Target="../media/mtg_p_aw_step1_crop.png"/><Relationship Id="rId4" Type="http://schemas.openxmlformats.org/officeDocument/2006/relationships/image" Target="../media/mtg_p_aw_step2_crop.png"/><Relationship Id="rId5" Type="http://schemas.openxmlformats.org/officeDocument/2006/relationships/image" Target="../media/mtg_p_aw_recording_crop.png"/><Relationship Id="rId6" Type="http://schemas.openxmlformats.org/officeDocument/2006/relationships/image" Target="../media/mtg_p_aw_done_crop.png"/><Relationship Id="rId90" Type="http://schemas.openxmlformats.org/officeDocument/2006/relationships/notesSlide" Target="../notesSlides/notesSlide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tg_s_rec_start.png"/><Relationship Id="rId3" Type="http://schemas.openxmlformats.org/officeDocument/2006/relationships/image" Target="../media/mtg_s_rec_ref.png"/><Relationship Id="rId4" Type="http://schemas.openxmlformats.org/officeDocument/2006/relationships/image" Target="../media/mtg_s_rec_recording.png"/><Relationship Id="rId5" Type="http://schemas.openxmlformats.org/officeDocument/2006/relationships/image" Target="../media/mtg_s_rec_done.png"/><Relationship Id="rId6" Type="http://schemas.openxmlformats.org/officeDocument/2006/relationships/image" Target="../media/mtg_s_res_summary.png"/><Relationship Id="rId9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4C8B-D7B7-A606-C8B8-A83F2A8F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B15E62-D77B-5471-4EE2-5A3294FD4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9285" y="1013012"/>
            <a:ext cx="7253431" cy="2254101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研究室</a:t>
            </a:r>
            <a:r>
              <a:rPr kumimoji="1" lang="en-US" altLang="ja-JP" dirty="0"/>
              <a:t>mtg</a:t>
            </a:r>
            <a:br>
              <a:rPr kumimoji="1" lang="en-US" altLang="ja-JP" sz="1000" dirty="0"/>
            </a:br>
            <a:r>
              <a:rPr kumimoji="1" lang="ja-JP" altLang="en-US" sz="1000" dirty="0">
                <a:solidFill>
                  <a:schemeClr val="bg1"/>
                </a:solidFill>
              </a:rPr>
              <a:t>プロジェクトデザイン</a:t>
            </a:r>
            <a:r>
              <a:rPr kumimoji="1" lang="en-US" altLang="ja-JP" sz="1000" dirty="0">
                <a:solidFill>
                  <a:schemeClr val="bg1"/>
                </a:solidFill>
              </a:rPr>
              <a:t>Ⅲ</a:t>
            </a:r>
            <a:br>
              <a:rPr kumimoji="1" lang="en-US" altLang="ja-JP" dirty="0"/>
            </a:br>
            <a:r>
              <a:rPr kumimoji="1" lang="en-US" altLang="ja-JP" sz="4500" dirty="0"/>
              <a:t>- </a:t>
            </a:r>
            <a:r>
              <a:rPr kumimoji="1" lang="ja-JP" altLang="en-US" sz="4500" dirty="0"/>
              <a:t>個人報告 </a:t>
            </a:r>
            <a:r>
              <a:rPr kumimoji="1" lang="en-US" altLang="ja-JP" sz="4500" dirty="0"/>
              <a:t>-</a:t>
            </a:r>
            <a:endParaRPr kumimoji="1" lang="ja-JP" altLang="en-US" sz="45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6AD69F-1B48-4880-2C0B-26362FE3D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074" y="3832411"/>
            <a:ext cx="4455852" cy="1196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>
                <a:ea typeface="+mn-lt"/>
                <a:cs typeface="+mn-lt"/>
              </a:rPr>
              <a:t>SP-PS</a:t>
            </a:r>
          </a:p>
          <a:p>
            <a:r>
              <a:rPr lang="en-US" altLang="ja-JP" sz="3000" dirty="0">
                <a:ea typeface="+mn-lt"/>
                <a:cs typeface="+mn-lt"/>
              </a:rPr>
              <a:t>4EP1-064 前田　侑輝</a:t>
            </a:r>
            <a:endParaRPr lang="ja-JP" altLang="en-US" sz="3000" dirty="0">
              <a:ea typeface="+mn-lt"/>
              <a:cs typeface="+mn-lt"/>
            </a:endParaRPr>
          </a:p>
          <a:p>
            <a:endParaRPr lang="en-US" altLang="ja-JP" sz="3000" dirty="0">
              <a:ea typeface="ＭＳ 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291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図形 501"/>
          <p:cNvSpPr/>
          <p:nvPr/>
        </p:nvSpPr>
        <p:spPr>
          <a:xfrm>
            <a:off x="219456" y="274320"/>
            <a:ext cx="96012" cy="4572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2" name="テキスト ボックス 502"/>
          <p:cNvSpPr txBox="1"/>
          <p:nvPr/>
        </p:nvSpPr>
        <p:spPr>
          <a:xfrm>
            <a:off x="502920" y="79848"/>
            <a:ext cx="95554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kumimoji="1" lang="ja-JP" altLang="en-US" sz="3000" b="1" dirty="0">
                <a:solidFill>
                  <a:srgbClr val="203864"/>
                </a:solidFill>
                <a:latin typeface="MS PGothic"/>
                <a:ea typeface="MS PGothic"/>
              </a:rPr>
              <a:t>今週やったこと</a:t>
            </a:r>
          </a:p>
        </p:txBody>
      </p:sp>
      <p:sp>
        <p:nvSpPr>
          <p:cNvPr id="503" name="スライド番号プレースホルダー 5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04" name="図形 504"/>
          <p:cNvSpPr/>
          <p:nvPr/>
        </p:nvSpPr>
        <p:spPr>
          <a:xfrm>
            <a:off x="502920" y="1369695"/>
            <a:ext cx="11183112" cy="10607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5" name="図形 505"/>
          <p:cNvSpPr/>
          <p:nvPr/>
        </p:nvSpPr>
        <p:spPr>
          <a:xfrm>
            <a:off x="502920" y="1369695"/>
            <a:ext cx="96012" cy="1060704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6" name="テキスト ボックス 506"/>
          <p:cNvSpPr txBox="1"/>
          <p:nvPr/>
        </p:nvSpPr>
        <p:spPr>
          <a:xfrm>
            <a:off x="841248" y="1369695"/>
            <a:ext cx="10661904" cy="10607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3100" b="1" dirty="0">
                <a:solidFill>
                  <a:srgbClr val="203864"/>
                </a:solidFill>
                <a:latin typeface="MS PGothic"/>
                <a:ea typeface="MS PGothic"/>
              </a:rPr>
              <a:t>生徒用と保護者用、2つの手順書を作った</a:t>
            </a:r>
          </a:p>
        </p:txBody>
      </p:sp>
      <p:sp>
        <p:nvSpPr>
          <p:cNvPr id="511" name="図形 511"/>
          <p:cNvSpPr/>
          <p:nvPr/>
        </p:nvSpPr>
        <p:spPr>
          <a:xfrm>
            <a:off x="502920" y="2850000"/>
            <a:ext cx="5486400" cy="3464016"/>
          </a:xfrm>
          <a:prstGeom prst="rect">
            <a:avLst/>
          </a:prstGeom>
          <a:solidFill>
            <a:srgbClr val="F4F6FA"/>
          </a:solidFill>
          <a:ln w="15875">
            <a:solidFill>
              <a:srgbClr val="D5DCE6"/>
            </a:solidFill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12" name="図形 512"/>
          <p:cNvSpPr/>
          <p:nvPr/>
        </p:nvSpPr>
        <p:spPr>
          <a:xfrm>
            <a:off x="502920" y="2850000"/>
            <a:ext cx="5486400" cy="713232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13" name="テキスト ボックス 513"/>
          <p:cNvSpPr txBox="1"/>
          <p:nvPr/>
        </p:nvSpPr>
        <p:spPr>
          <a:xfrm>
            <a:off x="731520" y="2850000"/>
            <a:ext cx="5029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2600" b="1" dirty="0">
                <a:solidFill>
                  <a:srgbClr val="FFFFFF"/>
                </a:solidFill>
                <a:latin typeface="MS PGothic"/>
                <a:ea typeface="MS PGothic"/>
              </a:rPr>
              <a:t>生徒用</a:t>
            </a:r>
          </a:p>
        </p:txBody>
      </p:sp>
      <p:sp>
        <p:nvSpPr>
          <p:cNvPr id="518" name="図形 518"/>
          <p:cNvSpPr/>
          <p:nvPr/>
        </p:nvSpPr>
        <p:spPr>
          <a:xfrm>
            <a:off x="6199632" y="2850000"/>
            <a:ext cx="5486400" cy="3464016"/>
          </a:xfrm>
          <a:prstGeom prst="rect">
            <a:avLst/>
          </a:prstGeom>
          <a:solidFill>
            <a:srgbClr val="F4F6FA"/>
          </a:solidFill>
          <a:ln w="15875">
            <a:solidFill>
              <a:srgbClr val="D5DCE6"/>
            </a:solidFill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19" name="図形 519"/>
          <p:cNvSpPr/>
          <p:nvPr/>
        </p:nvSpPr>
        <p:spPr>
          <a:xfrm>
            <a:off x="6199632" y="2850000"/>
            <a:ext cx="5486400" cy="713232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20" name="テキスト ボックス 520"/>
          <p:cNvSpPr txBox="1"/>
          <p:nvPr/>
        </p:nvSpPr>
        <p:spPr>
          <a:xfrm>
            <a:off x="6428232" y="2850000"/>
            <a:ext cx="5029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2600" b="1" dirty="0">
                <a:solidFill>
                  <a:srgbClr val="FFFFFF"/>
                </a:solidFill>
                <a:latin typeface="MS PGothic"/>
                <a:ea typeface="MS PGothic"/>
              </a:rPr>
              <a:t>保護者用</a:t>
            </a:r>
          </a:p>
        </p:txBody>
      </p:sp>
      <p:pic>
        <p:nvPicPr>
          <p:cNvPr id="600" name="表紙 600" descr="生徒用手順書の表紙「SP-PS のつかいかた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46112"/>
            <a:ext cx="5120640" cy="1024128"/>
          </a:xfrm>
          <a:prstGeom prst="roundRect">
            <a:avLst>
              <a:gd name="adj" fmla="val 4000"/>
            </a:avLst>
          </a:prstGeom>
          <a:ln w="9525">
            <a:solidFill>
              <a:srgbClr val="D5DCE6"/>
            </a:solidFill>
          </a:ln>
        </p:spPr>
      </p:pic>
      <p:sp>
        <p:nvSpPr>
          <p:cNvPr id="601" name="点 601"/>
          <p:cNvSpPr txBox="1"/>
          <p:nvPr/>
        </p:nvSpPr>
        <p:spPr>
          <a:xfrm>
            <a:off x="777240" y="5000240"/>
            <a:ext cx="31089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1800" dirty="0">
                <a:solidFill>
                  <a:srgbClr val="203864"/>
                </a:solidFill>
                <a:latin typeface="MS PGothic"/>
                <a:ea typeface="MS PGothic"/>
              </a:rPr>
              <a:t>●</a:t>
            </a:r>
          </a:p>
        </p:txBody>
      </p:sp>
      <p:sp>
        <p:nvSpPr>
          <p:cNvPr id="602" name="説明 602"/>
          <p:cNvSpPr txBox="1"/>
          <p:nvPr/>
        </p:nvSpPr>
        <p:spPr>
          <a:xfrm>
            <a:off x="1088136" y="5000240"/>
            <a:ext cx="462686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2400" dirty="0">
                <a:solidFill>
                  <a:srgbClr val="17253C"/>
                </a:solidFill>
                <a:latin typeface="MS PGothic"/>
                <a:ea typeface="MS PGothic"/>
              </a:rPr>
              <a:t>ログイン〜結果の見かた</a:t>
            </a:r>
          </a:p>
        </p:txBody>
      </p:sp>
      <p:sp>
        <p:nvSpPr>
          <p:cNvPr id="603" name="点 603"/>
          <p:cNvSpPr txBox="1"/>
          <p:nvPr/>
        </p:nvSpPr>
        <p:spPr>
          <a:xfrm>
            <a:off x="777240" y="5600240"/>
            <a:ext cx="31089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1800" dirty="0">
                <a:solidFill>
                  <a:srgbClr val="203864"/>
                </a:solidFill>
                <a:latin typeface="MS PGothic"/>
                <a:ea typeface="MS PGothic"/>
              </a:rPr>
              <a:t>●</a:t>
            </a:r>
          </a:p>
        </p:txBody>
      </p:sp>
      <p:sp>
        <p:nvSpPr>
          <p:cNvPr id="604" name="説明 604"/>
          <p:cNvSpPr txBox="1"/>
          <p:nvPr/>
        </p:nvSpPr>
        <p:spPr>
          <a:xfrm>
            <a:off x="1088136" y="5600240"/>
            <a:ext cx="462686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2400" dirty="0">
                <a:solidFill>
                  <a:srgbClr val="17253C"/>
                </a:solidFill>
                <a:latin typeface="MS PGothic"/>
                <a:ea typeface="MS PGothic"/>
              </a:rPr>
              <a:t>ひらがなを多めに</a:t>
            </a:r>
          </a:p>
        </p:txBody>
      </p:sp>
      <p:pic>
        <p:nvPicPr>
          <p:cNvPr id="605" name="表紙 605" descr="保護者用手順書の表紙「ご家庭で SP-PS を使うために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746112"/>
            <a:ext cx="5120640" cy="1024128"/>
          </a:xfrm>
          <a:prstGeom prst="roundRect">
            <a:avLst>
              <a:gd name="adj" fmla="val 4000"/>
            </a:avLst>
          </a:prstGeom>
          <a:ln w="9525">
            <a:solidFill>
              <a:srgbClr val="D5DCE6"/>
            </a:solidFill>
          </a:ln>
        </p:spPr>
      </p:pic>
      <p:sp>
        <p:nvSpPr>
          <p:cNvPr id="606" name="点 606"/>
          <p:cNvSpPr txBox="1"/>
          <p:nvPr/>
        </p:nvSpPr>
        <p:spPr>
          <a:xfrm>
            <a:off x="6473952" y="5000240"/>
            <a:ext cx="31089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1800" dirty="0">
                <a:solidFill>
                  <a:srgbClr val="203864"/>
                </a:solidFill>
                <a:latin typeface="MS PGothic"/>
                <a:ea typeface="MS PGothic"/>
              </a:rPr>
              <a:t>●</a:t>
            </a:r>
          </a:p>
        </p:txBody>
      </p:sp>
      <p:sp>
        <p:nvSpPr>
          <p:cNvPr id="607" name="説明 607"/>
          <p:cNvSpPr txBox="1"/>
          <p:nvPr/>
        </p:nvSpPr>
        <p:spPr>
          <a:xfrm>
            <a:off x="6784848" y="5000240"/>
            <a:ext cx="462686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2400" dirty="0">
                <a:solidFill>
                  <a:srgbClr val="17253C"/>
                </a:solidFill>
                <a:latin typeface="MS PGothic"/>
                <a:ea typeface="MS PGothic"/>
              </a:rPr>
              <a:t>お手本の登録と見守り方</a:t>
            </a:r>
          </a:p>
        </p:txBody>
      </p:sp>
      <p:sp>
        <p:nvSpPr>
          <p:cNvPr id="608" name="点 608"/>
          <p:cNvSpPr txBox="1"/>
          <p:nvPr/>
        </p:nvSpPr>
        <p:spPr>
          <a:xfrm>
            <a:off x="6473952" y="5600240"/>
            <a:ext cx="31089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1800" dirty="0">
                <a:solidFill>
                  <a:srgbClr val="203864"/>
                </a:solidFill>
                <a:latin typeface="MS PGothic"/>
                <a:ea typeface="MS PGothic"/>
              </a:rPr>
              <a:t>●</a:t>
            </a:r>
          </a:p>
        </p:txBody>
      </p:sp>
      <p:sp>
        <p:nvSpPr>
          <p:cNvPr id="609" name="説明 609"/>
          <p:cNvSpPr txBox="1"/>
          <p:nvPr/>
        </p:nvSpPr>
        <p:spPr>
          <a:xfrm>
            <a:off x="6784848" y="5600240"/>
            <a:ext cx="462686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kumimoji="1" lang="ja-JP" altLang="en-US" sz="2400" dirty="0">
                <a:solidFill>
                  <a:srgbClr val="17253C"/>
                </a:solidFill>
                <a:latin typeface="MS PGothic"/>
                <a:ea typeface="MS PGothic"/>
              </a:rPr>
              <a:t>保存されるデータも説明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図形 1101"/>
          <p:cNvSpPr/>
          <p:nvPr/>
        </p:nvSpPr>
        <p:spPr>
          <a:xfrm>
            <a:off x="219456" y="274320"/>
            <a:ext cx="96012" cy="4572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02" name="テキスト ボックス 1102"/>
          <p:cNvSpPr txBox="1"/>
          <p:nvPr/>
        </p:nvSpPr>
        <p:spPr>
          <a:xfrm>
            <a:off x="502920" y="83439"/>
            <a:ext cx="95554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kumimoji="1" lang="ja-JP" altLang="en-US" sz="3000" b="1" dirty="0">
                <a:solidFill>
                  <a:srgbClr val="203864"/>
                </a:solidFill>
                <a:latin typeface="MS PGothic"/>
                <a:ea typeface="MS PGothic"/>
              </a:rPr>
              <a:t>来週以降にやること</a:t>
            </a:r>
          </a:p>
        </p:txBody>
      </p:sp>
      <p:sp>
        <p:nvSpPr>
          <p:cNvPr id="1103" name="スライド番号プレースホルダー 1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1104" name="図形 1104"/>
          <p:cNvSpPr/>
          <p:nvPr/>
        </p:nvSpPr>
        <p:spPr>
          <a:xfrm>
            <a:off x="502920" y="1684020"/>
            <a:ext cx="11183112" cy="10607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05" name="図形 1105"/>
          <p:cNvSpPr/>
          <p:nvPr/>
        </p:nvSpPr>
        <p:spPr>
          <a:xfrm>
            <a:off x="502920" y="1684020"/>
            <a:ext cx="96012" cy="1060704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06" name="テキスト ボックス 1106"/>
          <p:cNvSpPr txBox="1"/>
          <p:nvPr/>
        </p:nvSpPr>
        <p:spPr>
          <a:xfrm>
            <a:off x="841248" y="1684020"/>
            <a:ext cx="10661904" cy="10607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3100" b="1" dirty="0">
                <a:solidFill>
                  <a:srgbClr val="203864"/>
                </a:solidFill>
                <a:latin typeface="MS PGothic"/>
                <a:ea typeface="MS PGothic"/>
              </a:rPr>
              <a:t>手順書を見てもらい、学校に渡せる形にする</a:t>
            </a:r>
          </a:p>
        </p:txBody>
      </p:sp>
      <p:sp>
        <p:nvSpPr>
          <p:cNvPr id="1111" name="図形 1111"/>
          <p:cNvSpPr/>
          <p:nvPr/>
        </p:nvSpPr>
        <p:spPr>
          <a:xfrm>
            <a:off x="502920" y="3221355"/>
            <a:ext cx="4114800" cy="731520"/>
          </a:xfrm>
          <a:prstGeom prst="roundRect">
            <a:avLst>
              <a:gd name="adj" fmla="val 17500"/>
            </a:avLst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400" b="1" dirty="0">
                <a:solidFill>
                  <a:srgbClr val="FFFFFF"/>
                </a:solidFill>
                <a:latin typeface="MS PGothic"/>
                <a:ea typeface="MS PGothic"/>
              </a:rPr>
              <a:t>確認</a:t>
            </a:r>
          </a:p>
        </p:txBody>
      </p:sp>
      <p:sp>
        <p:nvSpPr>
          <p:cNvPr id="1112" name="テキスト ボックス 1112"/>
          <p:cNvSpPr txBox="1"/>
          <p:nvPr/>
        </p:nvSpPr>
        <p:spPr>
          <a:xfrm>
            <a:off x="4983480" y="3221355"/>
            <a:ext cx="6702552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2800" dirty="0">
                <a:solidFill>
                  <a:srgbClr val="17253C"/>
                </a:solidFill>
                <a:latin typeface="MS PGothic"/>
                <a:ea typeface="MS PGothic"/>
              </a:rPr>
              <a:t>先生と研究室の皆さんに読んでもらう</a:t>
            </a:r>
            <a:endParaRPr lang="ja-JP" altLang="en-US" sz="2800" dirty="0">
              <a:solidFill>
                <a:srgbClr val="17253C"/>
              </a:solidFill>
              <a:latin typeface="MS PGothic"/>
              <a:ea typeface="MS PGothic"/>
            </a:endParaRPr>
          </a:p>
        </p:txBody>
      </p:sp>
      <p:sp>
        <p:nvSpPr>
          <p:cNvPr id="1113" name="図形 1113"/>
          <p:cNvSpPr/>
          <p:nvPr/>
        </p:nvSpPr>
        <p:spPr>
          <a:xfrm>
            <a:off x="502920" y="4301490"/>
            <a:ext cx="4114800" cy="731520"/>
          </a:xfrm>
          <a:prstGeom prst="roundRect">
            <a:avLst>
              <a:gd name="adj" fmla="val 17500"/>
            </a:avLst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400" b="1" dirty="0">
                <a:solidFill>
                  <a:srgbClr val="FFFFFF"/>
                </a:solidFill>
                <a:latin typeface="MS PGothic"/>
                <a:ea typeface="MS PGothic"/>
              </a:rPr>
              <a:t>修正</a:t>
            </a:r>
            <a:endParaRPr kumimoji="1" lang="ja-JP" altLang="en-US" sz="2400" b="1" dirty="0">
              <a:solidFill>
                <a:srgbClr val="FFFFFF"/>
              </a:solidFill>
              <a:latin typeface="MS PGothic"/>
              <a:ea typeface="MS PGothic"/>
            </a:endParaRPr>
          </a:p>
        </p:txBody>
      </p:sp>
      <p:sp>
        <p:nvSpPr>
          <p:cNvPr id="1114" name="テキスト ボックス 1114"/>
          <p:cNvSpPr txBox="1"/>
          <p:nvPr/>
        </p:nvSpPr>
        <p:spPr>
          <a:xfrm>
            <a:off x="4983480" y="4301490"/>
            <a:ext cx="6702552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ja-JP" sz="2800">
                <a:solidFill>
                  <a:srgbClr val="17253C"/>
                </a:solidFill>
                <a:latin typeface="MS PGothic"/>
                <a:ea typeface="MS PGothic"/>
              </a:rPr>
              <a:t>分かりにくい所を直す</a:t>
            </a:r>
            <a:endParaRPr lang="ja-JP" sz="2800">
              <a:solidFill>
                <a:srgbClr val="000000"/>
              </a:solidFill>
              <a:latin typeface="MS PGothic"/>
              <a:ea typeface="MS PGothic"/>
            </a:endParaRPr>
          </a:p>
        </p:txBody>
      </p:sp>
      <p:sp>
        <p:nvSpPr>
          <p:cNvPr id="1115" name="図形 1115"/>
          <p:cNvSpPr/>
          <p:nvPr/>
        </p:nvSpPr>
        <p:spPr>
          <a:xfrm>
            <a:off x="493395" y="5343525"/>
            <a:ext cx="4114800" cy="731520"/>
          </a:xfrm>
          <a:prstGeom prst="roundRect">
            <a:avLst>
              <a:gd name="adj" fmla="val 17500"/>
            </a:avLst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400" b="1" dirty="0">
                <a:solidFill>
                  <a:srgbClr val="FFFFFF"/>
                </a:solidFill>
                <a:latin typeface="MS PGothic"/>
                <a:ea typeface="MS PGothic"/>
              </a:rPr>
              <a:t>記入欄</a:t>
            </a:r>
          </a:p>
        </p:txBody>
      </p:sp>
      <p:sp>
        <p:nvSpPr>
          <p:cNvPr id="1116" name="テキスト ボックス 1116"/>
          <p:cNvSpPr txBox="1"/>
          <p:nvPr/>
        </p:nvSpPr>
        <p:spPr>
          <a:xfrm>
            <a:off x="4973955" y="5343525"/>
            <a:ext cx="6702552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2800" dirty="0">
                <a:solidFill>
                  <a:srgbClr val="17253C"/>
                </a:solidFill>
                <a:latin typeface="MS PGothic"/>
                <a:ea typeface="MS PGothic"/>
              </a:rPr>
              <a:t>URLと使える時間を、学校と決める</a:t>
            </a:r>
            <a:endParaRPr lang="ja-JP" altLang="en-US" sz="2800" dirty="0">
              <a:solidFill>
                <a:srgbClr val="17253C"/>
              </a:solidFill>
              <a:latin typeface="MS PGothic"/>
              <a:ea typeface="MS P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図形 501"/>
          <p:cNvSpPr/>
          <p:nvPr/>
        </p:nvSpPr>
        <p:spPr>
          <a:xfrm>
            <a:off x="219456" y="274320"/>
            <a:ext cx="96012" cy="4572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2" name="テキスト ボックス 502"/>
          <p:cNvSpPr txBox="1"/>
          <p:nvPr/>
        </p:nvSpPr>
        <p:spPr>
          <a:xfrm>
            <a:off x="502920" y="79848"/>
            <a:ext cx="95554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kumimoji="1" lang="ja-JP" altLang="en-US" sz="3000" b="1" dirty="0">
                <a:solidFill>
                  <a:srgbClr val="203864"/>
                </a:solidFill>
                <a:latin typeface="MS PGothic"/>
                <a:ea typeface="MS PGothic"/>
              </a:rPr>
              <a:t>保護者用の手順書</a:t>
            </a:r>
          </a:p>
        </p:txBody>
      </p:sp>
      <p:sp>
        <p:nvSpPr>
          <p:cNvPr id="503" name="スライド番号プレースホルダー 5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04" name="図形 504"/>
          <p:cNvSpPr/>
          <p:nvPr/>
        </p:nvSpPr>
        <p:spPr>
          <a:xfrm>
            <a:off x="502920" y="1369695"/>
            <a:ext cx="11183112" cy="10607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5" name="図形 505"/>
          <p:cNvSpPr/>
          <p:nvPr/>
        </p:nvSpPr>
        <p:spPr>
          <a:xfrm>
            <a:off x="502920" y="1369695"/>
            <a:ext cx="96012" cy="1060704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6" name="テキスト ボックス 506"/>
          <p:cNvSpPr txBox="1"/>
          <p:nvPr/>
        </p:nvSpPr>
        <p:spPr>
          <a:xfrm>
            <a:off x="841248" y="1369695"/>
            <a:ext cx="10661904" cy="10607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3100" b="1" dirty="0">
                <a:solidFill>
                  <a:srgbClr val="203864"/>
                </a:solidFill>
                <a:latin typeface="MS PGothic"/>
                <a:ea typeface="MS PGothic"/>
              </a:rPr>
              <a:t>お手本の登録を、5つの手順で説明した</a:t>
            </a:r>
          </a:p>
        </p:txBody>
      </p:sp>
      <p:pic>
        <p:nvPicPr>
          <p:cNvPr id="700" name="画面 1" descr="設定のシート。単語を追加（お手本録画つき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56437"/>
            <a:ext cx="2033422" cy="2465524"/>
          </a:xfrm>
          <a:prstGeom prst="roundRect">
            <a:avLst>
              <a:gd name="adj" fmla="val 5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01" name="手順 1"/>
          <p:cNvSpPr txBox="1"/>
          <p:nvPr/>
        </p:nvSpPr>
        <p:spPr>
          <a:xfrm>
            <a:off x="398780" y="5711961"/>
            <a:ext cx="2241702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①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設定をひらく</a:t>
            </a:r>
          </a:p>
        </p:txBody>
      </p:sp>
      <p:sp>
        <p:nvSpPr>
          <p:cNvPr id="702" name="矢印 702"/>
          <p:cNvSpPr/>
          <p:nvPr/>
        </p:nvSpPr>
        <p:spPr>
          <a:xfrm>
            <a:off x="2588342" y="4259199"/>
            <a:ext cx="150000" cy="26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03" name="画面 2" descr="新しい単語を追加。表示テキストとひらがな読みを入力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342" y="3156437"/>
            <a:ext cx="2033422" cy="2465524"/>
          </a:xfrm>
          <a:prstGeom prst="roundRect">
            <a:avLst>
              <a:gd name="adj" fmla="val 5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04" name="手順 2"/>
          <p:cNvSpPr txBox="1"/>
          <p:nvPr/>
        </p:nvSpPr>
        <p:spPr>
          <a:xfrm>
            <a:off x="2686202" y="5711961"/>
            <a:ext cx="2241702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②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単語を入力</a:t>
            </a:r>
          </a:p>
        </p:txBody>
      </p:sp>
      <p:sp>
        <p:nvSpPr>
          <p:cNvPr id="705" name="矢印 705"/>
          <p:cNvSpPr/>
          <p:nvPr/>
        </p:nvSpPr>
        <p:spPr>
          <a:xfrm>
            <a:off x="4875764" y="4259199"/>
            <a:ext cx="150000" cy="26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06" name="画面 3" descr="お手本を録画。顔を枠に合わせて準備完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765" y="3156437"/>
            <a:ext cx="2033422" cy="2465524"/>
          </a:xfrm>
          <a:prstGeom prst="roundRect">
            <a:avLst>
              <a:gd name="adj" fmla="val 5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07" name="手順 3"/>
          <p:cNvSpPr txBox="1"/>
          <p:nvPr/>
        </p:nvSpPr>
        <p:spPr>
          <a:xfrm>
            <a:off x="4973625" y="5711961"/>
            <a:ext cx="2241702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③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カメラを確認</a:t>
            </a:r>
          </a:p>
        </p:txBody>
      </p:sp>
      <p:sp>
        <p:nvSpPr>
          <p:cNvPr id="708" name="矢印 708"/>
          <p:cNvSpPr/>
          <p:nvPr/>
        </p:nvSpPr>
        <p:spPr>
          <a:xfrm>
            <a:off x="7163187" y="4259199"/>
            <a:ext cx="150000" cy="26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09" name="画面 4" descr="録画中の画面。3秒で自動で止まる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188" y="3156437"/>
            <a:ext cx="2033422" cy="2465524"/>
          </a:xfrm>
          <a:prstGeom prst="roundRect">
            <a:avLst>
              <a:gd name="adj" fmla="val 5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10" name="手順 4"/>
          <p:cNvSpPr txBox="1"/>
          <p:nvPr/>
        </p:nvSpPr>
        <p:spPr>
          <a:xfrm>
            <a:off x="7261048" y="5711961"/>
            <a:ext cx="2241702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④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3秒録画する</a:t>
            </a:r>
          </a:p>
        </p:txBody>
      </p:sp>
      <p:sp>
        <p:nvSpPr>
          <p:cNvPr id="711" name="矢印 711"/>
          <p:cNvSpPr/>
          <p:nvPr/>
        </p:nvSpPr>
        <p:spPr>
          <a:xfrm>
            <a:off x="9450610" y="4259199"/>
            <a:ext cx="150000" cy="26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12" name="画面 5" descr="「電話」を追加しました（お手本つき）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610" y="3156437"/>
            <a:ext cx="2033422" cy="2465524"/>
          </a:xfrm>
          <a:prstGeom prst="roundRect">
            <a:avLst>
              <a:gd name="adj" fmla="val 5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13" name="手順 5"/>
          <p:cNvSpPr txBox="1"/>
          <p:nvPr/>
        </p:nvSpPr>
        <p:spPr>
          <a:xfrm>
            <a:off x="9548470" y="5711961"/>
            <a:ext cx="2241702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⑤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登録完了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図形 501"/>
          <p:cNvSpPr/>
          <p:nvPr/>
        </p:nvSpPr>
        <p:spPr>
          <a:xfrm>
            <a:off x="219456" y="274320"/>
            <a:ext cx="96012" cy="4572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2" name="テキスト ボックス 502"/>
          <p:cNvSpPr txBox="1"/>
          <p:nvPr/>
        </p:nvSpPr>
        <p:spPr>
          <a:xfrm>
            <a:off x="502920" y="79848"/>
            <a:ext cx="95554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kumimoji="1" lang="ja-JP" altLang="en-US" sz="3000" b="1" dirty="0">
                <a:solidFill>
                  <a:srgbClr val="203864"/>
                </a:solidFill>
                <a:latin typeface="MS PGothic"/>
                <a:ea typeface="MS PGothic"/>
              </a:rPr>
              <a:t>生徒用の手順書</a:t>
            </a:r>
          </a:p>
        </p:txBody>
      </p:sp>
      <p:sp>
        <p:nvSpPr>
          <p:cNvPr id="503" name="スライド番号プレースホルダー 5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04" name="図形 504"/>
          <p:cNvSpPr/>
          <p:nvPr/>
        </p:nvSpPr>
        <p:spPr>
          <a:xfrm>
            <a:off x="502920" y="1369695"/>
            <a:ext cx="11183112" cy="10607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5" name="図形 505"/>
          <p:cNvSpPr/>
          <p:nvPr/>
        </p:nvSpPr>
        <p:spPr>
          <a:xfrm>
            <a:off x="502920" y="1369695"/>
            <a:ext cx="96012" cy="1060704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506" name="テキスト ボックス 506"/>
          <p:cNvSpPr txBox="1"/>
          <p:nvPr/>
        </p:nvSpPr>
        <p:spPr>
          <a:xfrm>
            <a:off x="841248" y="1369695"/>
            <a:ext cx="10661904" cy="10607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3100" b="1" dirty="0">
                <a:solidFill>
                  <a:srgbClr val="203864"/>
                </a:solidFill>
                <a:latin typeface="MS PGothic"/>
                <a:ea typeface="MS PGothic"/>
              </a:rPr>
              <a:t>練習の流れを、実際の画面で1つずつ説明した</a:t>
            </a:r>
          </a:p>
        </p:txBody>
      </p:sp>
      <p:pic>
        <p:nvPicPr>
          <p:cNvPr id="700" name="画面 1" descr="録音の画面。お手本を見る・録音するのボタン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0399"/>
            <a:ext cx="1483137" cy="3209601"/>
          </a:xfrm>
          <a:prstGeom prst="roundRect">
            <a:avLst>
              <a:gd name="adj" fmla="val 7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01" name="手順 1"/>
          <p:cNvSpPr txBox="1"/>
          <p:nvPr/>
        </p:nvSpPr>
        <p:spPr>
          <a:xfrm>
            <a:off x="133920" y="5990000"/>
            <a:ext cx="2221137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①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単語をえらぶ</a:t>
            </a:r>
          </a:p>
        </p:txBody>
      </p:sp>
      <p:sp>
        <p:nvSpPr>
          <p:cNvPr id="702" name="矢印 702"/>
          <p:cNvSpPr/>
          <p:nvPr/>
        </p:nvSpPr>
        <p:spPr>
          <a:xfrm>
            <a:off x="2361985" y="4130199"/>
            <a:ext cx="190000" cy="33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03" name="画面 2" descr="お手本を見る画面。お手本の口の動きと音の高さ・長さ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914" y="2690399"/>
            <a:ext cx="1483137" cy="3209601"/>
          </a:xfrm>
          <a:prstGeom prst="roundRect">
            <a:avLst>
              <a:gd name="adj" fmla="val 7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04" name="手順 2"/>
          <p:cNvSpPr txBox="1"/>
          <p:nvPr/>
        </p:nvSpPr>
        <p:spPr>
          <a:xfrm>
            <a:off x="2558914" y="5990000"/>
            <a:ext cx="2221137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②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お手本を見る</a:t>
            </a:r>
          </a:p>
        </p:txBody>
      </p:sp>
      <p:sp>
        <p:nvSpPr>
          <p:cNvPr id="705" name="矢印 705"/>
          <p:cNvSpPr/>
          <p:nvPr/>
        </p:nvSpPr>
        <p:spPr>
          <a:xfrm>
            <a:off x="4786979" y="4130199"/>
            <a:ext cx="190000" cy="33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06" name="画面 3" descr="録音している画面。自分のペースで言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908" y="2690399"/>
            <a:ext cx="1483137" cy="3209601"/>
          </a:xfrm>
          <a:prstGeom prst="roundRect">
            <a:avLst>
              <a:gd name="adj" fmla="val 7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07" name="手順 3"/>
          <p:cNvSpPr txBox="1"/>
          <p:nvPr/>
        </p:nvSpPr>
        <p:spPr>
          <a:xfrm>
            <a:off x="4983908" y="5990000"/>
            <a:ext cx="2221137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③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録音する</a:t>
            </a:r>
          </a:p>
        </p:txBody>
      </p:sp>
      <p:sp>
        <p:nvSpPr>
          <p:cNvPr id="708" name="矢印 708"/>
          <p:cNvSpPr/>
          <p:nvPr/>
        </p:nvSpPr>
        <p:spPr>
          <a:xfrm>
            <a:off x="7211973" y="4130199"/>
            <a:ext cx="190000" cy="33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09" name="画面 4" descr="録音のあと。お手本とあなたの口をならべて見る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01" y="2690399"/>
            <a:ext cx="1483137" cy="3209601"/>
          </a:xfrm>
          <a:prstGeom prst="roundRect">
            <a:avLst>
              <a:gd name="adj" fmla="val 7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10" name="手順 4"/>
          <p:cNvSpPr txBox="1"/>
          <p:nvPr/>
        </p:nvSpPr>
        <p:spPr>
          <a:xfrm>
            <a:off x="7408901" y="5990000"/>
            <a:ext cx="2221137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④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口を見くらべる</a:t>
            </a:r>
          </a:p>
        </p:txBody>
      </p:sp>
      <p:sp>
        <p:nvSpPr>
          <p:cNvPr id="711" name="矢印 711"/>
          <p:cNvSpPr/>
          <p:nvPr/>
        </p:nvSpPr>
        <p:spPr>
          <a:xfrm>
            <a:off x="9636966" y="4130199"/>
            <a:ext cx="190000" cy="330000"/>
          </a:xfrm>
          <a:prstGeom prst="chevron">
            <a:avLst/>
          </a:prstGeom>
          <a:solidFill>
            <a:srgbClr val="6B7C96"/>
          </a:solidFill>
          <a:ln>
            <a:noFill/>
          </a:ln>
        </p:spPr>
        <p:txBody>
          <a:bodyPr rtlCol="0" anchor="ctr"/>
          <a:lstStyle/>
          <a:p>
            <a:endParaRPr lang="ja-JP"/>
          </a:p>
        </p:txBody>
      </p:sp>
      <p:pic>
        <p:nvPicPr>
          <p:cNvPr id="712" name="画面 5" descr="結果のまとめ。点数とランク、高さ・長さ・口の形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2895" y="2690399"/>
            <a:ext cx="1483137" cy="3209601"/>
          </a:xfrm>
          <a:prstGeom prst="roundRect">
            <a:avLst>
              <a:gd name="adj" fmla="val 7000"/>
            </a:avLst>
          </a:prstGeom>
          <a:ln w="9525">
            <a:solidFill>
              <a:srgbClr val="D5DCE6"/>
            </a:solidFill>
          </a:ln>
        </p:spPr>
      </p:pic>
      <p:sp>
        <p:nvSpPr>
          <p:cNvPr id="713" name="手順 5"/>
          <p:cNvSpPr txBox="1"/>
          <p:nvPr/>
        </p:nvSpPr>
        <p:spPr>
          <a:xfrm>
            <a:off x="9833895" y="5990000"/>
            <a:ext cx="2221137" cy="420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000" b="1" dirty="0">
                <a:solidFill>
                  <a:srgbClr val="203864"/>
                </a:solidFill>
                <a:latin typeface="MS PGothic"/>
                <a:ea typeface="MS PGothic"/>
              </a:rPr>
              <a:t>⑤ </a:t>
            </a:r>
            <a:r>
              <a:rPr kumimoji="1" lang="ja-JP" altLang="en-US" sz="1800" b="1" dirty="0">
                <a:solidFill>
                  <a:srgbClr val="17253C"/>
                </a:solidFill>
                <a:latin typeface="MS PGothic"/>
                <a:ea typeface="MS PGothic"/>
              </a:rPr>
              <a:t>結果を見る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V-3D">
      <a:majorFont>
        <a:latin typeface="ＭＳ Ｐゴシック"/>
        <a:ea typeface="ＭＳ ゴシック"/>
        <a:cs typeface=""/>
      </a:majorFont>
      <a:minorFont>
        <a:latin typeface="ＭＳ Ｐ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11171</TotalTime>
  <Words>1424</Words>
  <Application>Microsoft Office PowerPoint</Application>
  <PresentationFormat>ワイド画面</PresentationFormat>
  <Paragraphs>98</Paragraphs>
  <Slides>7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ＭＳ Ｐゴシック</vt:lpstr>
      <vt:lpstr>ＭＳ Ｐゴシック</vt:lpstr>
      <vt:lpstr>ＭＳ ゴシック</vt:lpstr>
      <vt:lpstr>游ゴシック</vt:lpstr>
      <vt:lpstr>Arial</vt:lpstr>
      <vt:lpstr>Office テーマ</vt:lpstr>
      <vt:lpstr>研究室mtg プロジェクトデザインⅢ - 個人報告 -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頃安隆耀</dc:creator>
  <cp:lastModifiedBy>MAEDA Yuuki</cp:lastModifiedBy>
  <cp:revision>4956</cp:revision>
  <cp:lastPrinted>2025-11-30T14:00:36Z</cp:lastPrinted>
  <dcterms:created xsi:type="dcterms:W3CDTF">2024-12-17T04:06:39Z</dcterms:created>
  <dcterms:modified xsi:type="dcterms:W3CDTF">2026-10-13T05:14:49Z</dcterms:modified>
</cp:coreProperties>
</file>